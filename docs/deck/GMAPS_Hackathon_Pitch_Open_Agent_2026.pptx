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25"/>
    <p:sldId id="269" r:id="rId26"/>
    <p:sldId id="270" r:id="rId27"/>
    <p:sldId id="271" r:id="rId28"/>
  </p:sldIdLst>
  <p:sldSz cy="6858000" cx="12192000"/>
  <p:notesSz cx="6858000" cy="12192000"/>
  <p:embeddedFontLst>
    <p:embeddedFont>
      <p:font typeface="Caladea"/>
      <p:regular r:id="rId17"/>
      <p:bold r:id="rId18"/>
      <p:italic r:id="rId19"/>
      <p:boldItalic r:id="rId20"/>
    </p:embeddedFont>
    <p:embeddedFont>
      <p:font typeface="Carli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font" Target="fonts/Caladea-regular.fntdata"/><Relationship Id="rId18" Type="http://schemas.openxmlformats.org/officeDocument/2006/relationships/font" Target="fonts/Caladea-bold.fntdata"/><Relationship Id="rId19" Type="http://schemas.openxmlformats.org/officeDocument/2006/relationships/font" Target="fonts/Caladea-italic.fntdata"/><Relationship Id="rId20" Type="http://schemas.openxmlformats.org/officeDocument/2006/relationships/font" Target="fonts/Caladea-boldItalic.fntdata"/><Relationship Id="rId21" Type="http://schemas.openxmlformats.org/officeDocument/2006/relationships/font" Target="fonts/Carlito-regular.fntdata"/><Relationship Id="rId22" Type="http://schemas.openxmlformats.org/officeDocument/2006/relationships/font" Target="fonts/Carlito-bold.fntdata"/><Relationship Id="rId23" Type="http://schemas.openxmlformats.org/officeDocument/2006/relationships/font" Target="fonts/Carlito-italic.fntdata"/><Relationship Id="rId24" Type="http://schemas.openxmlformats.org/officeDocument/2006/relationships/font" Target="fonts/Carlito-boldItalic.fntdata"/><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h50afdc44e4fc493a_9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 name="Google Shape;13;h50afdc44e4fc493a_9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h50afdc44e4fc493a_9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h50afdc44e4fc493a_9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 name="Google Shape;19;h50afdc44e4fc493a_9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 name="Google Shape;20;h50afdc44e4fc493a_9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h50afdc44e4fc493a_1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 name="Google Shape;25;h50afdc44e4fc493a_1_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h50afdc44e4fc493a_1_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h50afdc44e4fc493a_9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 name="Google Shape;33;h50afdc44e4fc493a_9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h50afdc44e4fc493a_9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top to bottom. "We ingest the tower, ground and vehicle frequencies, plus a reviewed airport map. Everything runs on one Dell GB10 on site, no cloud. Out comes structured intent: who was told what, where. That updates the ground state, and our deterministic layer checks whether two intended paths overlap in space and time, and alerts the controller with the evidence." The language model reads language; the geometry is plain code, so it cannot hallucinate a taxiway.</a:t>
            </a:r>
            <a:endParaRPr/>
          </a:p>
        </p:txBody>
      </p:sp>
      <p:sp>
        <p:nvSpPr>
          <p:cNvPr id="40" name="Google Shape;4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h50afdc44e4fc493a_1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3" name="Google Shape;73;h50afdc44e4fc493a_1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h50afdc44e4fc493a_1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Switch to the live app. Narrate: audio, transcript, structured data, map, alert. Prompts: Who is moving? Where are they going? What instruction was given? Will paths intersect? The zoomed card shows the two warnings: a look-ahead overlap at zone Z1, and a crossing authorization issued while a landing is still active, each with its sources. If the live demo fails, stay on this slide.</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50afdc44e4fc493a_1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8" name="Google Shape;88;h50afdc44e4fc493a_1_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h50afdc44e4fc493a_1_9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h50afdc44e4fc493a_1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4" name="Google Shape;94;h50afdc44e4fc493a_1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h50afdc44e4fc493a_1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50afdc44e4fc493a_1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50afdc44e4fc493a_1_1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h50afdc44e4fc493a_1_10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Today the controller hears everything and reconstructs the picture alone, under time pressure. GMAPS organizes the radio into a structured picture and flags where paths may cross. The human still makes every decision. Audio is continuous. Understanding should be structured. Thank you.</a:t>
            </a:r>
            <a:endParaRPr/>
          </a:p>
        </p:txBody>
      </p:sp>
      <p:sp>
        <p:nvSpPr>
          <p:cNvPr id="108" name="Google Shape;10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50afdc44e4fc493a_1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50afdc44e4fc493a_1_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h50afdc44e4fc493a_1_7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1.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id="16" name="Google Shape;16;p3"/>
          <p:cNvPicPr preferRelativeResize="0"/>
          <p:nvPr/>
        </p:nvPicPr>
        <p:blipFill>
          <a:blip r:embed="rId3">
            <a:alphaModFix/>
          </a:blip>
          <a:stretch>
            <a:fillRect/>
          </a:stretch>
        </p:blipFill>
        <p:spPr>
          <a:xfrm>
            <a:off x="227325" y="76200"/>
            <a:ext cx="11914739" cy="67055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pic>
        <p:nvPicPr>
          <p:cNvPr id="22" name="Google Shape;22;p4"/>
          <p:cNvPicPr preferRelativeResize="0"/>
          <p:nvPr/>
        </p:nvPicPr>
        <p:blipFill>
          <a:blip r:embed="rId3">
            <a:alphaModFix/>
          </a:blip>
          <a:stretch>
            <a:fillRect/>
          </a:stretch>
        </p:blipFill>
        <p:spPr>
          <a:xfrm>
            <a:off x="152400" y="0"/>
            <a:ext cx="11921060" cy="67055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pic>
        <p:nvPicPr>
          <p:cNvPr id="28" name="Google Shape;28;p5" title="Runway Conflict Map.png"/>
          <p:cNvPicPr preferRelativeResize="0"/>
          <p:nvPr/>
        </p:nvPicPr>
        <p:blipFill>
          <a:blip r:embed="rId3">
            <a:alphaModFix/>
          </a:blip>
          <a:stretch>
            <a:fillRect/>
          </a:stretch>
        </p:blipFill>
        <p:spPr>
          <a:xfrm>
            <a:off x="0" y="1271100"/>
            <a:ext cx="5895225" cy="3764475"/>
          </a:xfrm>
          <a:prstGeom prst="rect">
            <a:avLst/>
          </a:prstGeom>
          <a:noFill/>
          <a:ln>
            <a:noFill/>
          </a:ln>
        </p:spPr>
      </p:pic>
      <p:pic>
        <p:nvPicPr>
          <p:cNvPr id="29" name="Google Shape;29;p5" title="跑道交汇处碰撞警示图.png"/>
          <p:cNvPicPr preferRelativeResize="0"/>
          <p:nvPr/>
        </p:nvPicPr>
        <p:blipFill>
          <a:blip r:embed="rId4">
            <a:alphaModFix/>
          </a:blip>
          <a:stretch>
            <a:fillRect/>
          </a:stretch>
        </p:blipFill>
        <p:spPr>
          <a:xfrm>
            <a:off x="5895225" y="1271100"/>
            <a:ext cx="6266683" cy="3764474"/>
          </a:xfrm>
          <a:prstGeom prst="rect">
            <a:avLst/>
          </a:prstGeom>
          <a:noFill/>
          <a:ln>
            <a:noFill/>
          </a:ln>
        </p:spPr>
      </p:pic>
      <p:sp>
        <p:nvSpPr>
          <p:cNvPr id="30" name="Google Shape;30;p5"/>
          <p:cNvSpPr txBox="1"/>
          <p:nvPr/>
        </p:nvSpPr>
        <p:spPr>
          <a:xfrm>
            <a:off x="181950" y="130800"/>
            <a:ext cx="10841400" cy="87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t>As- Is Process </a:t>
            </a:r>
            <a:endParaRPr b="1" sz="3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pic>
        <p:nvPicPr>
          <p:cNvPr id="36" name="Google Shape;36;p6"/>
          <p:cNvPicPr preferRelativeResize="0"/>
          <p:nvPr/>
        </p:nvPicPr>
        <p:blipFill>
          <a:blip r:embed="rId3">
            <a:alphaModFix/>
          </a:blip>
          <a:stretch>
            <a:fillRect/>
          </a:stretch>
        </p:blipFill>
        <p:spPr>
          <a:xfrm>
            <a:off x="152400" y="152400"/>
            <a:ext cx="12039599" cy="6553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7"/>
          <p:cNvSpPr/>
          <p:nvPr/>
        </p:nvSpPr>
        <p:spPr>
          <a:xfrm>
            <a:off x="104150" y="515675"/>
            <a:ext cx="13539000" cy="474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2328"/>
              </a:buClr>
              <a:buSzPts val="3173"/>
              <a:buFont typeface="Caladea"/>
              <a:buNone/>
            </a:pPr>
            <a:r>
              <a:rPr b="1" i="0" lang="en-US" sz="3173" u="none" cap="none" strike="noStrike">
                <a:solidFill>
                  <a:srgbClr val="1F2328"/>
                </a:solidFill>
                <a:latin typeface="Caladea"/>
                <a:ea typeface="Caladea"/>
                <a:cs typeface="Caladea"/>
                <a:sym typeface="Caladea"/>
              </a:rPr>
              <a:t>Solution</a:t>
            </a:r>
            <a:endParaRPr b="0" i="0" sz="3173" u="none" cap="none" strike="noStrike">
              <a:solidFill>
                <a:schemeClr val="dk1"/>
              </a:solidFill>
              <a:latin typeface="Calibri"/>
              <a:ea typeface="Calibri"/>
              <a:cs typeface="Calibri"/>
              <a:sym typeface="Calibri"/>
            </a:endParaRPr>
          </a:p>
        </p:txBody>
      </p:sp>
      <p:pic>
        <p:nvPicPr>
          <p:cNvPr descr="line" id="43" name="Google Shape;43;p7"/>
          <p:cNvPicPr preferRelativeResize="0"/>
          <p:nvPr/>
        </p:nvPicPr>
        <p:blipFill rotWithShape="1">
          <a:blip r:embed="rId3">
            <a:alphaModFix/>
          </a:blip>
          <a:srcRect b="0" l="0" r="0" t="0"/>
          <a:stretch/>
        </p:blipFill>
        <p:spPr>
          <a:xfrm>
            <a:off x="104150" y="1144973"/>
            <a:ext cx="13144714" cy="15501"/>
          </a:xfrm>
          <a:prstGeom prst="rect">
            <a:avLst/>
          </a:prstGeom>
          <a:noFill/>
          <a:ln>
            <a:noFill/>
          </a:ln>
        </p:spPr>
      </p:pic>
      <p:sp>
        <p:nvSpPr>
          <p:cNvPr id="44" name="Google Shape;44;p7"/>
          <p:cNvSpPr/>
          <p:nvPr/>
        </p:nvSpPr>
        <p:spPr>
          <a:xfrm>
            <a:off x="1708488" y="1447240"/>
            <a:ext cx="2309700" cy="1457100"/>
          </a:xfrm>
          <a:prstGeom prst="roundRect">
            <a:avLst>
              <a:gd fmla="val 4787" name="adj"/>
            </a:avLst>
          </a:prstGeom>
          <a:solidFill>
            <a:srgbClr val="FFFFFF"/>
          </a:solidFill>
          <a:ln cap="flat" cmpd="sng" w="15500">
            <a:solidFill>
              <a:srgbClr val="E4E6E9"/>
            </a:solidFill>
            <a:prstDash val="solid"/>
            <a:round/>
            <a:headEnd len="sm" w="sm" type="none"/>
            <a:tailEnd len="sm" w="sm" type="none"/>
          </a:ln>
          <a:effectLst>
            <a:outerShdw blurRad="46503" rotWithShape="0" algn="bl" dir="5400000" dist="15501">
              <a:srgbClr val="EEF0F2"/>
            </a:outerShdw>
          </a:effectLst>
        </p:spPr>
        <p:txBody>
          <a:bodyPr anchorCtr="0" anchor="ctr" bIns="111575" lIns="111575" spcFirstLastPara="1" rIns="111575" wrap="square" tIns="111575">
            <a:noAutofit/>
          </a:bodyPr>
          <a:lstStyle/>
          <a:p>
            <a:pPr indent="0" lvl="0" marL="0" rtl="0" algn="l">
              <a:spcBef>
                <a:spcPts val="0"/>
              </a:spcBef>
              <a:spcAft>
                <a:spcPts val="0"/>
              </a:spcAft>
              <a:buNone/>
            </a:pPr>
            <a:r>
              <a:t/>
            </a:r>
            <a:endParaRPr/>
          </a:p>
        </p:txBody>
      </p:sp>
      <p:pic>
        <p:nvPicPr>
          <p:cNvPr descr="antenna icon" id="45" name="Google Shape;45;p7"/>
          <p:cNvPicPr preferRelativeResize="0"/>
          <p:nvPr/>
        </p:nvPicPr>
        <p:blipFill rotWithShape="1">
          <a:blip r:embed="rId4">
            <a:alphaModFix/>
          </a:blip>
          <a:srcRect b="0" l="0" r="0" t="0"/>
          <a:stretch/>
        </p:blipFill>
        <p:spPr>
          <a:xfrm>
            <a:off x="2630788" y="1732431"/>
            <a:ext cx="465026" cy="465026"/>
          </a:xfrm>
          <a:prstGeom prst="rect">
            <a:avLst/>
          </a:prstGeom>
          <a:noFill/>
          <a:ln>
            <a:noFill/>
          </a:ln>
        </p:spPr>
      </p:pic>
      <p:sp>
        <p:nvSpPr>
          <p:cNvPr id="46" name="Google Shape;46;p7"/>
          <p:cNvSpPr/>
          <p:nvPr/>
        </p:nvSpPr>
        <p:spPr>
          <a:xfrm>
            <a:off x="2042604" y="2336964"/>
            <a:ext cx="1641300" cy="313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328"/>
              </a:buClr>
              <a:buSzPts val="1587"/>
              <a:buFont typeface="Carlito"/>
              <a:buNone/>
            </a:pPr>
            <a:r>
              <a:rPr b="0" i="0" lang="en-US" sz="1587" u="none" cap="none" strike="noStrike">
                <a:solidFill>
                  <a:srgbClr val="1F2328"/>
                </a:solidFill>
                <a:latin typeface="Carlito"/>
                <a:ea typeface="Carlito"/>
                <a:cs typeface="Carlito"/>
                <a:sym typeface="Carlito"/>
              </a:rPr>
              <a:t>Tower frequency</a:t>
            </a:r>
            <a:endParaRPr b="0" i="0" sz="1587" u="none" cap="none" strike="noStrike">
              <a:solidFill>
                <a:schemeClr val="dk1"/>
              </a:solidFill>
              <a:latin typeface="Calibri"/>
              <a:ea typeface="Calibri"/>
              <a:cs typeface="Calibri"/>
              <a:sym typeface="Calibri"/>
            </a:endParaRPr>
          </a:p>
        </p:txBody>
      </p:sp>
      <p:sp>
        <p:nvSpPr>
          <p:cNvPr id="47" name="Google Shape;47;p7"/>
          <p:cNvSpPr/>
          <p:nvPr/>
        </p:nvSpPr>
        <p:spPr>
          <a:xfrm>
            <a:off x="4250626" y="1447240"/>
            <a:ext cx="2309700" cy="1457100"/>
          </a:xfrm>
          <a:prstGeom prst="roundRect">
            <a:avLst>
              <a:gd fmla="val 4787" name="adj"/>
            </a:avLst>
          </a:prstGeom>
          <a:solidFill>
            <a:srgbClr val="FFFFFF"/>
          </a:solidFill>
          <a:ln cap="flat" cmpd="sng" w="15500">
            <a:solidFill>
              <a:srgbClr val="E4E6E9"/>
            </a:solidFill>
            <a:prstDash val="solid"/>
            <a:round/>
            <a:headEnd len="sm" w="sm" type="none"/>
            <a:tailEnd len="sm" w="sm" type="none"/>
          </a:ln>
          <a:effectLst>
            <a:outerShdw blurRad="46503" rotWithShape="0" algn="bl" dir="5400000" dist="15501">
              <a:srgbClr val="EEF0F2"/>
            </a:outerShdw>
          </a:effectLst>
        </p:spPr>
        <p:txBody>
          <a:bodyPr anchorCtr="0" anchor="ctr" bIns="111575" lIns="111575" spcFirstLastPara="1" rIns="111575" wrap="square" tIns="111575">
            <a:noAutofit/>
          </a:bodyPr>
          <a:lstStyle/>
          <a:p>
            <a:pPr indent="0" lvl="0" marL="0" rtl="0" algn="l">
              <a:spcBef>
                <a:spcPts val="0"/>
              </a:spcBef>
              <a:spcAft>
                <a:spcPts val="0"/>
              </a:spcAft>
              <a:buNone/>
            </a:pPr>
            <a:r>
              <a:t/>
            </a:r>
            <a:endParaRPr/>
          </a:p>
        </p:txBody>
      </p:sp>
      <p:pic>
        <p:nvPicPr>
          <p:cNvPr descr="antenna icon" id="48" name="Google Shape;48;p7"/>
          <p:cNvPicPr preferRelativeResize="0"/>
          <p:nvPr/>
        </p:nvPicPr>
        <p:blipFill rotWithShape="1">
          <a:blip r:embed="rId4">
            <a:alphaModFix/>
          </a:blip>
          <a:srcRect b="0" l="0" r="0" t="0"/>
          <a:stretch/>
        </p:blipFill>
        <p:spPr>
          <a:xfrm>
            <a:off x="5172927" y="1732431"/>
            <a:ext cx="465025" cy="465026"/>
          </a:xfrm>
          <a:prstGeom prst="rect">
            <a:avLst/>
          </a:prstGeom>
          <a:noFill/>
          <a:ln>
            <a:noFill/>
          </a:ln>
        </p:spPr>
      </p:pic>
      <p:sp>
        <p:nvSpPr>
          <p:cNvPr id="49" name="Google Shape;49;p7"/>
          <p:cNvSpPr/>
          <p:nvPr/>
        </p:nvSpPr>
        <p:spPr>
          <a:xfrm>
            <a:off x="4513099" y="2336964"/>
            <a:ext cx="1784700" cy="313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328"/>
              </a:buClr>
              <a:buSzPts val="1587"/>
              <a:buFont typeface="Carlito"/>
              <a:buNone/>
            </a:pPr>
            <a:r>
              <a:rPr b="0" i="0" lang="en-US" sz="1587" u="none" cap="none" strike="noStrike">
                <a:solidFill>
                  <a:srgbClr val="1F2328"/>
                </a:solidFill>
                <a:latin typeface="Carlito"/>
                <a:ea typeface="Carlito"/>
                <a:cs typeface="Carlito"/>
                <a:sym typeface="Carlito"/>
              </a:rPr>
              <a:t>Ground frequency</a:t>
            </a:r>
            <a:endParaRPr b="0" i="0" sz="1587" u="none" cap="none" strike="noStrike">
              <a:solidFill>
                <a:schemeClr val="dk1"/>
              </a:solidFill>
              <a:latin typeface="Calibri"/>
              <a:ea typeface="Calibri"/>
              <a:cs typeface="Calibri"/>
              <a:sym typeface="Calibri"/>
            </a:endParaRPr>
          </a:p>
        </p:txBody>
      </p:sp>
      <p:sp>
        <p:nvSpPr>
          <p:cNvPr id="50" name="Google Shape;50;p7"/>
          <p:cNvSpPr/>
          <p:nvPr/>
        </p:nvSpPr>
        <p:spPr>
          <a:xfrm>
            <a:off x="6792765" y="1447240"/>
            <a:ext cx="2309700" cy="1457100"/>
          </a:xfrm>
          <a:prstGeom prst="roundRect">
            <a:avLst>
              <a:gd fmla="val 4787" name="adj"/>
            </a:avLst>
          </a:prstGeom>
          <a:solidFill>
            <a:srgbClr val="FFFFFF"/>
          </a:solidFill>
          <a:ln cap="flat" cmpd="sng" w="15500">
            <a:solidFill>
              <a:srgbClr val="E4E6E9"/>
            </a:solidFill>
            <a:prstDash val="solid"/>
            <a:round/>
            <a:headEnd len="sm" w="sm" type="none"/>
            <a:tailEnd len="sm" w="sm" type="none"/>
          </a:ln>
          <a:effectLst>
            <a:outerShdw blurRad="46503" rotWithShape="0" algn="bl" dir="5400000" dist="15501">
              <a:srgbClr val="EEF0F2"/>
            </a:outerShdw>
          </a:effectLst>
        </p:spPr>
        <p:txBody>
          <a:bodyPr anchorCtr="0" anchor="ctr" bIns="111575" lIns="111575" spcFirstLastPara="1" rIns="111575" wrap="square" tIns="111575">
            <a:noAutofit/>
          </a:bodyPr>
          <a:lstStyle/>
          <a:p>
            <a:pPr indent="0" lvl="0" marL="0" rtl="0" algn="l">
              <a:spcBef>
                <a:spcPts val="0"/>
              </a:spcBef>
              <a:spcAft>
                <a:spcPts val="0"/>
              </a:spcAft>
              <a:buNone/>
            </a:pPr>
            <a:r>
              <a:t/>
            </a:r>
            <a:endParaRPr/>
          </a:p>
        </p:txBody>
      </p:sp>
      <p:pic>
        <p:nvPicPr>
          <p:cNvPr descr="truck icon" id="51" name="Google Shape;51;p7"/>
          <p:cNvPicPr preferRelativeResize="0"/>
          <p:nvPr/>
        </p:nvPicPr>
        <p:blipFill rotWithShape="1">
          <a:blip r:embed="rId5">
            <a:alphaModFix/>
          </a:blip>
          <a:srcRect b="0" l="0" r="0" t="0"/>
          <a:stretch/>
        </p:blipFill>
        <p:spPr>
          <a:xfrm>
            <a:off x="7715065" y="1732431"/>
            <a:ext cx="465026" cy="465026"/>
          </a:xfrm>
          <a:prstGeom prst="rect">
            <a:avLst/>
          </a:prstGeom>
          <a:noFill/>
          <a:ln>
            <a:noFill/>
          </a:ln>
        </p:spPr>
      </p:pic>
      <p:sp>
        <p:nvSpPr>
          <p:cNvPr id="52" name="Google Shape;52;p7"/>
          <p:cNvSpPr/>
          <p:nvPr/>
        </p:nvSpPr>
        <p:spPr>
          <a:xfrm>
            <a:off x="7393187" y="2336964"/>
            <a:ext cx="1108500" cy="313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328"/>
              </a:buClr>
              <a:buSzPts val="1587"/>
              <a:buFont typeface="Carlito"/>
              <a:buNone/>
            </a:pPr>
            <a:r>
              <a:rPr b="0" i="0" lang="en-US" sz="1587" u="none" cap="none" strike="noStrike">
                <a:solidFill>
                  <a:srgbClr val="1F2328"/>
                </a:solidFill>
                <a:latin typeface="Carlito"/>
                <a:ea typeface="Carlito"/>
                <a:cs typeface="Carlito"/>
                <a:sym typeface="Carlito"/>
              </a:rPr>
              <a:t>Vehicle ops</a:t>
            </a:r>
            <a:endParaRPr b="0" i="0" sz="1587" u="none" cap="none" strike="noStrike">
              <a:solidFill>
                <a:schemeClr val="dk1"/>
              </a:solidFill>
              <a:latin typeface="Calibri"/>
              <a:ea typeface="Calibri"/>
              <a:cs typeface="Calibri"/>
              <a:sym typeface="Calibri"/>
            </a:endParaRPr>
          </a:p>
        </p:txBody>
      </p:sp>
      <p:sp>
        <p:nvSpPr>
          <p:cNvPr id="53" name="Google Shape;53;p7"/>
          <p:cNvSpPr/>
          <p:nvPr/>
        </p:nvSpPr>
        <p:spPr>
          <a:xfrm>
            <a:off x="9334904" y="1447240"/>
            <a:ext cx="2309700" cy="1457100"/>
          </a:xfrm>
          <a:prstGeom prst="roundRect">
            <a:avLst>
              <a:gd fmla="val 4787" name="adj"/>
            </a:avLst>
          </a:prstGeom>
          <a:solidFill>
            <a:srgbClr val="FFFFFF"/>
          </a:solidFill>
          <a:ln cap="flat" cmpd="sng" w="15500">
            <a:solidFill>
              <a:srgbClr val="E4E6E9"/>
            </a:solidFill>
            <a:prstDash val="solid"/>
            <a:round/>
            <a:headEnd len="sm" w="sm" type="none"/>
            <a:tailEnd len="sm" w="sm" type="none"/>
          </a:ln>
          <a:effectLst>
            <a:outerShdw blurRad="46503" rotWithShape="0" algn="bl" dir="5400000" dist="15501">
              <a:srgbClr val="EEF0F2"/>
            </a:outerShdw>
          </a:effectLst>
        </p:spPr>
        <p:txBody>
          <a:bodyPr anchorCtr="0" anchor="ctr" bIns="111575" lIns="111575" spcFirstLastPara="1" rIns="111575" wrap="square" tIns="111575">
            <a:noAutofit/>
          </a:bodyPr>
          <a:lstStyle/>
          <a:p>
            <a:pPr indent="0" lvl="0" marL="0" rtl="0" algn="l">
              <a:spcBef>
                <a:spcPts val="0"/>
              </a:spcBef>
              <a:spcAft>
                <a:spcPts val="0"/>
              </a:spcAft>
              <a:buNone/>
            </a:pPr>
            <a:r>
              <a:t/>
            </a:r>
            <a:endParaRPr/>
          </a:p>
        </p:txBody>
      </p:sp>
      <p:pic>
        <p:nvPicPr>
          <p:cNvPr descr="map icon" id="54" name="Google Shape;54;p7"/>
          <p:cNvPicPr preferRelativeResize="0"/>
          <p:nvPr/>
        </p:nvPicPr>
        <p:blipFill rotWithShape="1">
          <a:blip r:embed="rId6">
            <a:alphaModFix/>
          </a:blip>
          <a:srcRect b="0" l="0" r="0" t="0"/>
          <a:stretch/>
        </p:blipFill>
        <p:spPr>
          <a:xfrm>
            <a:off x="10257204" y="1732431"/>
            <a:ext cx="465026" cy="465026"/>
          </a:xfrm>
          <a:prstGeom prst="rect">
            <a:avLst/>
          </a:prstGeom>
          <a:noFill/>
          <a:ln>
            <a:noFill/>
          </a:ln>
        </p:spPr>
      </p:pic>
      <p:sp>
        <p:nvSpPr>
          <p:cNvPr id="55" name="Google Shape;55;p7"/>
          <p:cNvSpPr/>
          <p:nvPr/>
        </p:nvSpPr>
        <p:spPr>
          <a:xfrm>
            <a:off x="9894557" y="2336964"/>
            <a:ext cx="1190400" cy="313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328"/>
              </a:buClr>
              <a:buSzPts val="1587"/>
              <a:buFont typeface="Carlito"/>
              <a:buNone/>
            </a:pPr>
            <a:r>
              <a:rPr b="0" i="0" lang="en-US" sz="1587" u="none" cap="none" strike="noStrike">
                <a:solidFill>
                  <a:srgbClr val="1F2328"/>
                </a:solidFill>
                <a:latin typeface="Carlito"/>
                <a:ea typeface="Carlito"/>
                <a:cs typeface="Carlito"/>
                <a:sym typeface="Carlito"/>
              </a:rPr>
              <a:t>Airport map</a:t>
            </a:r>
            <a:endParaRPr b="0" i="0" sz="1587" u="none" cap="none" strike="noStrike">
              <a:solidFill>
                <a:schemeClr val="dk1"/>
              </a:solidFill>
              <a:latin typeface="Calibri"/>
              <a:ea typeface="Calibri"/>
              <a:cs typeface="Calibri"/>
              <a:sym typeface="Calibri"/>
            </a:endParaRPr>
          </a:p>
        </p:txBody>
      </p:sp>
      <p:sp>
        <p:nvSpPr>
          <p:cNvPr id="56" name="Google Shape;56;p7"/>
          <p:cNvSpPr/>
          <p:nvPr/>
        </p:nvSpPr>
        <p:spPr>
          <a:xfrm>
            <a:off x="6491104" y="3051578"/>
            <a:ext cx="370800" cy="372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67C85"/>
              </a:buClr>
              <a:buSzPts val="2685"/>
              <a:buFont typeface="Carlito"/>
              <a:buNone/>
            </a:pPr>
            <a:r>
              <a:rPr b="0" i="0" lang="en-US" sz="2685" u="none" cap="none" strike="noStrike">
                <a:solidFill>
                  <a:srgbClr val="767C85"/>
                </a:solidFill>
                <a:latin typeface="Carlito"/>
                <a:ea typeface="Carlito"/>
                <a:cs typeface="Carlito"/>
                <a:sym typeface="Carlito"/>
              </a:rPr>
              <a:t>↓</a:t>
            </a:r>
            <a:endParaRPr b="0" i="0" sz="2685" u="none" cap="none" strike="noStrike">
              <a:solidFill>
                <a:schemeClr val="dk1"/>
              </a:solidFill>
              <a:latin typeface="Calibri"/>
              <a:ea typeface="Calibri"/>
              <a:cs typeface="Calibri"/>
              <a:sym typeface="Calibri"/>
            </a:endParaRPr>
          </a:p>
        </p:txBody>
      </p:sp>
      <p:sp>
        <p:nvSpPr>
          <p:cNvPr id="57" name="Google Shape;57;p7"/>
          <p:cNvSpPr/>
          <p:nvPr/>
        </p:nvSpPr>
        <p:spPr>
          <a:xfrm>
            <a:off x="3200444" y="3543730"/>
            <a:ext cx="6951900" cy="1368900"/>
          </a:xfrm>
          <a:prstGeom prst="roundRect">
            <a:avLst>
              <a:gd fmla="val 4813" name="adj"/>
            </a:avLst>
          </a:prstGeom>
          <a:solidFill>
            <a:srgbClr val="FFFFFF"/>
          </a:solidFill>
          <a:ln cap="flat" cmpd="sng" w="23250">
            <a:solidFill>
              <a:srgbClr val="C0392B"/>
            </a:solidFill>
            <a:prstDash val="solid"/>
            <a:round/>
            <a:headEnd len="sm" w="sm" type="none"/>
            <a:tailEnd len="sm" w="sm" type="none"/>
          </a:ln>
        </p:spPr>
        <p:txBody>
          <a:bodyPr anchorCtr="0" anchor="ctr" bIns="111575" lIns="111575" spcFirstLastPara="1" rIns="111575" wrap="square" tIns="111575">
            <a:noAutofit/>
          </a:bodyPr>
          <a:lstStyle/>
          <a:p>
            <a:pPr indent="0" lvl="0" marL="0" rtl="0" algn="l">
              <a:spcBef>
                <a:spcPts val="0"/>
              </a:spcBef>
              <a:spcAft>
                <a:spcPts val="0"/>
              </a:spcAft>
              <a:buNone/>
            </a:pPr>
            <a:r>
              <a:t/>
            </a:r>
            <a:endParaRPr/>
          </a:p>
        </p:txBody>
      </p:sp>
      <p:pic>
        <p:nvPicPr>
          <p:cNvPr descr="server icon" id="58" name="Google Shape;58;p7"/>
          <p:cNvPicPr preferRelativeResize="0"/>
          <p:nvPr/>
        </p:nvPicPr>
        <p:blipFill rotWithShape="1">
          <a:blip r:embed="rId7">
            <a:alphaModFix/>
          </a:blip>
          <a:srcRect b="0" l="0" r="0" t="0"/>
          <a:stretch/>
        </p:blipFill>
        <p:spPr>
          <a:xfrm>
            <a:off x="3584090" y="3980055"/>
            <a:ext cx="496027" cy="496027"/>
          </a:xfrm>
          <a:prstGeom prst="rect">
            <a:avLst/>
          </a:prstGeom>
          <a:noFill/>
          <a:ln>
            <a:noFill/>
          </a:ln>
        </p:spPr>
      </p:pic>
      <p:sp>
        <p:nvSpPr>
          <p:cNvPr id="59" name="Google Shape;59;p7"/>
          <p:cNvSpPr/>
          <p:nvPr/>
        </p:nvSpPr>
        <p:spPr>
          <a:xfrm>
            <a:off x="5299573" y="3741366"/>
            <a:ext cx="3560100" cy="3564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328"/>
              </a:buClr>
              <a:buSzPts val="1831"/>
              <a:buFont typeface="Carlito"/>
              <a:buNone/>
            </a:pPr>
            <a:r>
              <a:rPr b="1" i="0" lang="en-US" sz="1831" u="none" cap="none" strike="noStrike">
                <a:solidFill>
                  <a:srgbClr val="1F2328"/>
                </a:solidFill>
                <a:latin typeface="Carlito"/>
                <a:ea typeface="Carlito"/>
                <a:cs typeface="Carlito"/>
                <a:sym typeface="Carlito"/>
              </a:rPr>
              <a:t>Single local point of processing</a:t>
            </a:r>
            <a:endParaRPr b="0" i="0" sz="1831" u="none" cap="none" strike="noStrike">
              <a:solidFill>
                <a:schemeClr val="dk1"/>
              </a:solidFill>
              <a:latin typeface="Calibri"/>
              <a:ea typeface="Calibri"/>
              <a:cs typeface="Calibri"/>
              <a:sym typeface="Calibri"/>
            </a:endParaRPr>
          </a:p>
        </p:txBody>
      </p:sp>
      <p:sp>
        <p:nvSpPr>
          <p:cNvPr id="60" name="Google Shape;60;p7"/>
          <p:cNvSpPr/>
          <p:nvPr/>
        </p:nvSpPr>
        <p:spPr>
          <a:xfrm>
            <a:off x="5477300" y="4097885"/>
            <a:ext cx="3204600" cy="3564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F2328"/>
              </a:buClr>
              <a:buSzPts val="1831"/>
              <a:buFont typeface="Carlito"/>
              <a:buNone/>
            </a:pPr>
            <a:r>
              <a:rPr b="1" i="0" lang="en-US" sz="1831" u="none" cap="none" strike="noStrike">
                <a:solidFill>
                  <a:srgbClr val="1F2328"/>
                </a:solidFill>
                <a:latin typeface="Carlito"/>
                <a:ea typeface="Carlito"/>
                <a:cs typeface="Carlito"/>
                <a:sym typeface="Carlito"/>
              </a:rPr>
              <a:t>Dell Pro Max · NVIDIA GB10</a:t>
            </a:r>
            <a:endParaRPr b="0" i="0" sz="1831" u="none" cap="none" strike="noStrike">
              <a:solidFill>
                <a:schemeClr val="dk1"/>
              </a:solidFill>
              <a:latin typeface="Calibri"/>
              <a:ea typeface="Calibri"/>
              <a:cs typeface="Calibri"/>
              <a:sym typeface="Calibri"/>
            </a:endParaRPr>
          </a:p>
        </p:txBody>
      </p:sp>
      <p:sp>
        <p:nvSpPr>
          <p:cNvPr id="61" name="Google Shape;61;p7"/>
          <p:cNvSpPr/>
          <p:nvPr/>
        </p:nvSpPr>
        <p:spPr>
          <a:xfrm>
            <a:off x="5703564" y="4454405"/>
            <a:ext cx="2751900" cy="291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C0392B"/>
              </a:buClr>
              <a:buSzPts val="1465"/>
              <a:buFont typeface="Carlito"/>
              <a:buNone/>
            </a:pPr>
            <a:r>
              <a:rPr b="0" i="0" lang="en-US" sz="1465" u="none" cap="none" strike="noStrike">
                <a:solidFill>
                  <a:srgbClr val="C0392B"/>
                </a:solidFill>
                <a:latin typeface="Carlito"/>
                <a:ea typeface="Carlito"/>
                <a:cs typeface="Carlito"/>
                <a:sym typeface="Carlito"/>
              </a:rPr>
              <a:t>No cloud connection required.</a:t>
            </a:r>
            <a:endParaRPr b="0" i="0" sz="1465" u="none" cap="none" strike="noStrike">
              <a:solidFill>
                <a:schemeClr val="dk1"/>
              </a:solidFill>
              <a:latin typeface="Calibri"/>
              <a:ea typeface="Calibri"/>
              <a:cs typeface="Calibri"/>
              <a:sym typeface="Calibri"/>
            </a:endParaRPr>
          </a:p>
        </p:txBody>
      </p:sp>
      <p:sp>
        <p:nvSpPr>
          <p:cNvPr id="62" name="Google Shape;62;p7"/>
          <p:cNvSpPr/>
          <p:nvPr/>
        </p:nvSpPr>
        <p:spPr>
          <a:xfrm>
            <a:off x="6491104" y="5063541"/>
            <a:ext cx="370800" cy="372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67C85"/>
              </a:buClr>
              <a:buSzPts val="2685"/>
              <a:buFont typeface="Carlito"/>
              <a:buNone/>
            </a:pPr>
            <a:r>
              <a:rPr b="0" i="0" lang="en-US" sz="2685" u="none" cap="none" strike="noStrike">
                <a:solidFill>
                  <a:srgbClr val="767C85"/>
                </a:solidFill>
                <a:latin typeface="Carlito"/>
                <a:ea typeface="Carlito"/>
                <a:cs typeface="Carlito"/>
                <a:sym typeface="Carlito"/>
              </a:rPr>
              <a:t>↓</a:t>
            </a:r>
            <a:endParaRPr b="0" i="0" sz="2685" u="none" cap="none" strike="noStrike">
              <a:solidFill>
                <a:schemeClr val="dk1"/>
              </a:solidFill>
              <a:latin typeface="Calibri"/>
              <a:ea typeface="Calibri"/>
              <a:cs typeface="Calibri"/>
              <a:sym typeface="Calibri"/>
            </a:endParaRPr>
          </a:p>
        </p:txBody>
      </p:sp>
      <p:sp>
        <p:nvSpPr>
          <p:cNvPr id="63" name="Google Shape;63;p7"/>
          <p:cNvSpPr/>
          <p:nvPr/>
        </p:nvSpPr>
        <p:spPr>
          <a:xfrm>
            <a:off x="3444824" y="5551818"/>
            <a:ext cx="6463500" cy="790500"/>
          </a:xfrm>
          <a:prstGeom prst="roundRect">
            <a:avLst>
              <a:gd fmla="val 8824" name="adj"/>
            </a:avLst>
          </a:prstGeom>
          <a:noFill/>
          <a:ln cap="flat" cmpd="sng" w="15500">
            <a:solidFill>
              <a:srgbClr val="E4E6E9"/>
            </a:solidFill>
            <a:prstDash val="solid"/>
            <a:round/>
            <a:headEnd len="sm" w="sm" type="none"/>
            <a:tailEnd len="sm" w="sm" type="none"/>
          </a:ln>
          <a:effectLst>
            <a:outerShdw blurRad="46503" rotWithShape="0" algn="bl" dir="5400000" dist="15501">
              <a:srgbClr val="EEF0F2"/>
            </a:outerShdw>
          </a:effectLst>
        </p:spPr>
        <p:txBody>
          <a:bodyPr anchorCtr="0" anchor="ctr" bIns="111575" lIns="111575" spcFirstLastPara="1" rIns="111575" wrap="square" tIns="111575">
            <a:noAutofit/>
          </a:bodyPr>
          <a:lstStyle/>
          <a:p>
            <a:pPr indent="0" lvl="0" marL="0" rtl="0" algn="l">
              <a:spcBef>
                <a:spcPts val="0"/>
              </a:spcBef>
              <a:spcAft>
                <a:spcPts val="0"/>
              </a:spcAft>
              <a:buNone/>
            </a:pPr>
            <a:r>
              <a:t/>
            </a:r>
            <a:endParaRPr/>
          </a:p>
        </p:txBody>
      </p:sp>
      <p:pic>
        <p:nvPicPr>
          <p:cNvPr descr="CheckCircle" id="64" name="Google Shape;64;p7"/>
          <p:cNvPicPr preferRelativeResize="0"/>
          <p:nvPr/>
        </p:nvPicPr>
        <p:blipFill rotWithShape="1">
          <a:blip r:embed="rId8">
            <a:alphaModFix/>
          </a:blip>
          <a:srcRect b="0" l="0" r="0" t="0"/>
          <a:stretch/>
        </p:blipFill>
        <p:spPr>
          <a:xfrm>
            <a:off x="3793593" y="5761079"/>
            <a:ext cx="372020" cy="372020"/>
          </a:xfrm>
          <a:prstGeom prst="rect">
            <a:avLst/>
          </a:prstGeom>
          <a:noFill/>
          <a:ln>
            <a:noFill/>
          </a:ln>
        </p:spPr>
      </p:pic>
      <p:sp>
        <p:nvSpPr>
          <p:cNvPr id="65" name="Google Shape;65;p7"/>
          <p:cNvSpPr/>
          <p:nvPr/>
        </p:nvSpPr>
        <p:spPr>
          <a:xfrm>
            <a:off x="4336123" y="5806007"/>
            <a:ext cx="1602900" cy="31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328"/>
              </a:buClr>
              <a:buSzPts val="1587"/>
              <a:buFont typeface="Carlito"/>
              <a:buNone/>
            </a:pPr>
            <a:r>
              <a:rPr b="1" i="0" lang="en-US" sz="1587" u="none" cap="none" strike="noStrike">
                <a:solidFill>
                  <a:srgbClr val="1F2328"/>
                </a:solidFill>
                <a:latin typeface="Carlito"/>
                <a:ea typeface="Carlito"/>
                <a:cs typeface="Carlito"/>
                <a:sym typeface="Carlito"/>
              </a:rPr>
              <a:t>Structured intent</a:t>
            </a:r>
            <a:endParaRPr b="0" i="0" sz="1587" u="none" cap="none" strike="noStrike">
              <a:solidFill>
                <a:schemeClr val="dk1"/>
              </a:solidFill>
              <a:latin typeface="Calibri"/>
              <a:ea typeface="Calibri"/>
              <a:cs typeface="Calibri"/>
              <a:sym typeface="Calibri"/>
            </a:endParaRPr>
          </a:p>
        </p:txBody>
      </p:sp>
      <p:sp>
        <p:nvSpPr>
          <p:cNvPr id="66" name="Google Shape;66;p7"/>
          <p:cNvSpPr/>
          <p:nvPr/>
        </p:nvSpPr>
        <p:spPr>
          <a:xfrm>
            <a:off x="5939067" y="5806007"/>
            <a:ext cx="263400" cy="31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67C85"/>
              </a:buClr>
              <a:buSzPts val="1587"/>
              <a:buFont typeface="Carlito"/>
              <a:buNone/>
            </a:pPr>
            <a:r>
              <a:rPr b="1" i="0" lang="en-US" sz="1587" u="none" cap="none" strike="noStrike">
                <a:solidFill>
                  <a:srgbClr val="767C85"/>
                </a:solidFill>
                <a:latin typeface="Carlito"/>
                <a:ea typeface="Carlito"/>
                <a:cs typeface="Carlito"/>
                <a:sym typeface="Carlito"/>
              </a:rPr>
              <a:t>→</a:t>
            </a:r>
            <a:endParaRPr b="0" i="0" sz="1587" u="none" cap="none" strike="noStrike">
              <a:solidFill>
                <a:schemeClr val="dk1"/>
              </a:solidFill>
              <a:latin typeface="Calibri"/>
              <a:ea typeface="Calibri"/>
              <a:cs typeface="Calibri"/>
              <a:sym typeface="Calibri"/>
            </a:endParaRPr>
          </a:p>
        </p:txBody>
      </p:sp>
      <p:sp>
        <p:nvSpPr>
          <p:cNvPr id="67" name="Google Shape;67;p7"/>
          <p:cNvSpPr/>
          <p:nvPr/>
        </p:nvSpPr>
        <p:spPr>
          <a:xfrm>
            <a:off x="6311088" y="5806007"/>
            <a:ext cx="1258800" cy="31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328"/>
              </a:buClr>
              <a:buSzPts val="1587"/>
              <a:buFont typeface="Carlito"/>
              <a:buNone/>
            </a:pPr>
            <a:r>
              <a:rPr b="1" i="0" lang="en-US" sz="1587" u="none" cap="none" strike="noStrike">
                <a:solidFill>
                  <a:srgbClr val="1F2328"/>
                </a:solidFill>
                <a:latin typeface="Carlito"/>
                <a:ea typeface="Carlito"/>
                <a:cs typeface="Carlito"/>
                <a:sym typeface="Carlito"/>
              </a:rPr>
              <a:t>Ground state</a:t>
            </a:r>
            <a:endParaRPr b="0" i="0" sz="1587" u="none" cap="none" strike="noStrike">
              <a:solidFill>
                <a:schemeClr val="dk1"/>
              </a:solidFill>
              <a:latin typeface="Calibri"/>
              <a:ea typeface="Calibri"/>
              <a:cs typeface="Calibri"/>
              <a:sym typeface="Calibri"/>
            </a:endParaRPr>
          </a:p>
        </p:txBody>
      </p:sp>
      <p:sp>
        <p:nvSpPr>
          <p:cNvPr id="68" name="Google Shape;68;p7"/>
          <p:cNvSpPr/>
          <p:nvPr/>
        </p:nvSpPr>
        <p:spPr>
          <a:xfrm>
            <a:off x="7569987" y="5806007"/>
            <a:ext cx="263400" cy="31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67C85"/>
              </a:buClr>
              <a:buSzPts val="1587"/>
              <a:buFont typeface="Carlito"/>
              <a:buNone/>
            </a:pPr>
            <a:r>
              <a:rPr b="1" i="0" lang="en-US" sz="1587" u="none" cap="none" strike="noStrike">
                <a:solidFill>
                  <a:srgbClr val="767C85"/>
                </a:solidFill>
                <a:latin typeface="Carlito"/>
                <a:ea typeface="Carlito"/>
                <a:cs typeface="Carlito"/>
                <a:sym typeface="Carlito"/>
              </a:rPr>
              <a:t>→</a:t>
            </a:r>
            <a:endParaRPr b="0" i="0" sz="1587" u="none" cap="none" strike="noStrike">
              <a:solidFill>
                <a:schemeClr val="dk1"/>
              </a:solidFill>
              <a:latin typeface="Calibri"/>
              <a:ea typeface="Calibri"/>
              <a:cs typeface="Calibri"/>
              <a:sym typeface="Calibri"/>
            </a:endParaRPr>
          </a:p>
        </p:txBody>
      </p:sp>
      <p:sp>
        <p:nvSpPr>
          <p:cNvPr id="69" name="Google Shape;69;p7"/>
          <p:cNvSpPr/>
          <p:nvPr/>
        </p:nvSpPr>
        <p:spPr>
          <a:xfrm>
            <a:off x="7942007" y="5806007"/>
            <a:ext cx="1940700" cy="31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0392B"/>
              </a:buClr>
              <a:buSzPts val="1587"/>
              <a:buFont typeface="Carlito"/>
              <a:buNone/>
            </a:pPr>
            <a:r>
              <a:rPr b="1" i="0" lang="en-US" sz="1587" u="none" cap="none" strike="noStrike">
                <a:solidFill>
                  <a:srgbClr val="C0392B"/>
                </a:solidFill>
                <a:latin typeface="Carlito"/>
                <a:ea typeface="Carlito"/>
                <a:cs typeface="Carlito"/>
                <a:sym typeface="Carlito"/>
              </a:rPr>
              <a:t>Conflict look-ahead</a:t>
            </a:r>
            <a:endParaRPr b="0" i="0" sz="1587" u="none" cap="none" strike="noStrike">
              <a:solidFill>
                <a:schemeClr val="dk1"/>
              </a:solidFill>
              <a:latin typeface="Calibri"/>
              <a:ea typeface="Calibri"/>
              <a:cs typeface="Calibri"/>
              <a:sym typeface="Calibri"/>
            </a:endParaRPr>
          </a:p>
        </p:txBody>
      </p:sp>
      <p:pic>
        <p:nvPicPr>
          <p:cNvPr id="70" name="Google Shape;70;p7" title="截屏2026-10-03 下午6.59.33.png"/>
          <p:cNvPicPr preferRelativeResize="0"/>
          <p:nvPr/>
        </p:nvPicPr>
        <p:blipFill rotWithShape="1">
          <a:blip r:embed="rId9">
            <a:alphaModFix/>
          </a:blip>
          <a:srcRect b="189" l="0" r="0" t="179"/>
          <a:stretch/>
        </p:blipFill>
        <p:spPr>
          <a:xfrm>
            <a:off x="104150" y="419600"/>
            <a:ext cx="11659452" cy="62802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8" title="截屏2026-10-03 下午7.02.09.png"/>
          <p:cNvPicPr preferRelativeResize="0"/>
          <p:nvPr/>
        </p:nvPicPr>
        <p:blipFill>
          <a:blip r:embed="rId3">
            <a:alphaModFix/>
          </a:blip>
          <a:stretch>
            <a:fillRect/>
          </a:stretch>
        </p:blipFill>
        <p:spPr>
          <a:xfrm>
            <a:off x="152400" y="152400"/>
            <a:ext cx="10858373" cy="65531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pic>
        <p:nvPicPr>
          <p:cNvPr descr="Close-up: look-ahead occupancy overlap at zone Z1 and conflict, crossing versus active landing" id="82" name="Google Shape;82;p9"/>
          <p:cNvPicPr preferRelativeResize="0"/>
          <p:nvPr/>
        </p:nvPicPr>
        <p:blipFill rotWithShape="1">
          <a:blip r:embed="rId3">
            <a:alphaModFix/>
          </a:blip>
          <a:srcRect b="0" l="-320" r="-320" t="0"/>
          <a:stretch/>
        </p:blipFill>
        <p:spPr>
          <a:xfrm>
            <a:off x="7292950" y="3807650"/>
            <a:ext cx="4826100" cy="2927400"/>
          </a:xfrm>
          <a:prstGeom prst="roundRect">
            <a:avLst>
              <a:gd fmla="val 868" name="adj"/>
            </a:avLst>
          </a:prstGeom>
          <a:noFill/>
          <a:ln>
            <a:noFill/>
          </a:ln>
        </p:spPr>
      </p:pic>
      <p:sp>
        <p:nvSpPr>
          <p:cNvPr id="83" name="Google Shape;83;p9"/>
          <p:cNvSpPr/>
          <p:nvPr/>
        </p:nvSpPr>
        <p:spPr>
          <a:xfrm>
            <a:off x="711200" y="5715000"/>
            <a:ext cx="57556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767C85"/>
              </a:buClr>
              <a:buSzPts val="1200"/>
              <a:buFont typeface="Carlito"/>
              <a:buNone/>
            </a:pPr>
            <a:r>
              <a:rPr b="0" i="0" lang="en-US" sz="1200" u="none" cap="none" strike="noStrike">
                <a:solidFill>
                  <a:srgbClr val="767C85"/>
                </a:solidFill>
                <a:latin typeface="Carlito"/>
                <a:ea typeface="Carlito"/>
                <a:cs typeface="Carlito"/>
                <a:sym typeface="Carlito"/>
              </a:rPr>
              <a:t>Live prototype · fictional exercise · simulated movement observations</a:t>
            </a:r>
            <a:endParaRPr b="0" i="0" sz="1200" u="none" cap="none" strike="noStrike">
              <a:solidFill>
                <a:schemeClr val="dk1"/>
              </a:solidFill>
              <a:latin typeface="Calibri"/>
              <a:ea typeface="Calibri"/>
              <a:cs typeface="Calibri"/>
              <a:sym typeface="Calibri"/>
            </a:endParaRPr>
          </a:p>
        </p:txBody>
      </p:sp>
      <p:pic>
        <p:nvPicPr>
          <p:cNvPr id="84" name="Google Shape;84;p9"/>
          <p:cNvPicPr preferRelativeResize="0"/>
          <p:nvPr/>
        </p:nvPicPr>
        <p:blipFill>
          <a:blip r:embed="rId4">
            <a:alphaModFix/>
          </a:blip>
          <a:stretch>
            <a:fillRect/>
          </a:stretch>
        </p:blipFill>
        <p:spPr>
          <a:xfrm>
            <a:off x="152400" y="152400"/>
            <a:ext cx="7140551" cy="4448275"/>
          </a:xfrm>
          <a:prstGeom prst="rect">
            <a:avLst/>
          </a:prstGeom>
          <a:noFill/>
          <a:ln>
            <a:noFill/>
          </a:ln>
        </p:spPr>
      </p:pic>
      <p:pic>
        <p:nvPicPr>
          <p:cNvPr id="85" name="Google Shape;85;p9"/>
          <p:cNvPicPr preferRelativeResize="0"/>
          <p:nvPr/>
        </p:nvPicPr>
        <p:blipFill>
          <a:blip r:embed="rId5">
            <a:alphaModFix/>
          </a:blip>
          <a:stretch>
            <a:fillRect/>
          </a:stretch>
        </p:blipFill>
        <p:spPr>
          <a:xfrm>
            <a:off x="10305627" y="152393"/>
            <a:ext cx="1415125" cy="30775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0" title="截屏2026-10-03 下午7.03.29.png"/>
          <p:cNvPicPr preferRelativeResize="0"/>
          <p:nvPr/>
        </p:nvPicPr>
        <p:blipFill>
          <a:blip r:embed="rId3">
            <a:alphaModFix/>
          </a:blip>
          <a:stretch>
            <a:fillRect/>
          </a:stretch>
        </p:blipFill>
        <p:spPr>
          <a:xfrm>
            <a:off x="152400" y="152400"/>
            <a:ext cx="11814221" cy="6553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pic>
        <p:nvPicPr>
          <p:cNvPr id="97" name="Google Shape;97;p11" title="GMAPS_Tech_Stack_4K.png"/>
          <p:cNvPicPr preferRelativeResize="0"/>
          <p:nvPr/>
        </p:nvPicPr>
        <p:blipFill>
          <a:blip r:embed="rId4">
            <a:alphaModFix/>
          </a:blip>
          <a:stretch>
            <a:fillRect/>
          </a:stretch>
        </p:blipFill>
        <p:spPr>
          <a:xfrm>
            <a:off x="0" y="66668"/>
            <a:ext cx="12073477" cy="6791331"/>
          </a:xfrm>
          <a:prstGeom prst="rect">
            <a:avLst/>
          </a:prstGeom>
          <a:noFill/>
          <a:ln>
            <a:noFill/>
          </a:ln>
        </p:spPr>
      </p:pic>
      <p:pic>
        <p:nvPicPr>
          <p:cNvPr id="98" name="Google Shape;98;p11" title="截屏2026-10-03 下午7.13.14.png"/>
          <p:cNvPicPr preferRelativeResize="0"/>
          <p:nvPr/>
        </p:nvPicPr>
        <p:blipFill rotWithShape="1">
          <a:blip r:embed="rId5">
            <a:alphaModFix/>
          </a:blip>
          <a:srcRect b="0" l="0" r="0" t="8147"/>
          <a:stretch/>
        </p:blipFill>
        <p:spPr>
          <a:xfrm>
            <a:off x="9358525" y="5675575"/>
            <a:ext cx="1948350" cy="1182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2"/>
          <p:cNvPicPr preferRelativeResize="0"/>
          <p:nvPr/>
        </p:nvPicPr>
        <p:blipFill>
          <a:blip r:embed="rId3">
            <a:alphaModFix/>
          </a:blip>
          <a:stretch>
            <a:fillRect/>
          </a:stretch>
        </p:blipFill>
        <p:spPr>
          <a:xfrm>
            <a:off x="152400" y="0"/>
            <a:ext cx="11914739" cy="67055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pic>
        <p:nvPicPr>
          <p:cNvPr id="110" name="Google Shape;110;p13"/>
          <p:cNvPicPr preferRelativeResize="0"/>
          <p:nvPr/>
        </p:nvPicPr>
        <p:blipFill>
          <a:blip r:embed="rId3">
            <a:alphaModFix/>
          </a:blip>
          <a:stretch>
            <a:fillRect/>
          </a:stretch>
        </p:blipFill>
        <p:spPr>
          <a:xfrm>
            <a:off x="152400" y="56300"/>
            <a:ext cx="11814699" cy="66492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14" title="GMAPS_Domain_Collaborators_v2_4K.png"/>
          <p:cNvPicPr preferRelativeResize="0"/>
          <p:nvPr/>
        </p:nvPicPr>
        <p:blipFill>
          <a:blip r:embed="rId3">
            <a:alphaModFix/>
          </a:blip>
          <a:stretch>
            <a:fillRect/>
          </a:stretch>
        </p:blipFill>
        <p:spPr>
          <a:xfrm>
            <a:off x="152400" y="44200"/>
            <a:ext cx="11842473" cy="6661400"/>
          </a:xfrm>
          <a:prstGeom prst="rect">
            <a:avLst/>
          </a:prstGeom>
          <a:noFill/>
          <a:ln>
            <a:no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487680" y="274320"/>
            <a:ext cx="11216640" cy="685800"/>
          </a:xfrm>
          <a:prstGeom prst="rect">
            <a:avLst/>
          </a:prstGeom>
          <a:noFill/>
        </p:spPr>
        <p:txBody>
          <a:bodyPr wrap="none">
            <a:spAutoFit/>
          </a:bodyPr>
          <a:lstStyle/>
          <a:p>
            <a:r>
              <a:rPr sz="1200" b="1">
                <a:solidFill>
                  <a:srgbClr val="2DD4BF"/>
                </a:solidFill>
              </a:rPr>
              <a:t>OPEN AGENT HACKATHON 2026 · WILDCARD [TINKERER]</a:t>
            </a:r>
          </a:p>
          <a:p>
            <a:r>
              <a:rPr sz="2800" b="1">
                <a:solidFill>
                  <a:srgbClr val="EEF1F5"/>
                </a:solidFill>
              </a:rPr>
              <a:t>New this hackathon: an agent loop with roles that check each other</a:t>
            </a:r>
          </a:p>
        </p:txBody>
      </p:sp>
      <p:sp>
        <p:nvSpPr>
          <p:cNvPr id="3" name="TextBox 2"/>
          <p:cNvSpPr txBox="1"/>
          <p:nvPr/>
        </p:nvSpPr>
        <p:spPr>
          <a:xfrm>
            <a:off x="487680" y="1371600"/>
            <a:ext cx="11216640" cy="5143500"/>
          </a:xfrm>
          <a:prstGeom prst="rect">
            <a:avLst/>
          </a:prstGeom>
          <a:noFill/>
        </p:spPr>
        <p:txBody>
          <a:bodyPr wrap="square">
            <a:spAutoFit/>
          </a:bodyPr>
          <a:lstStyle/>
          <a:p>
            <a:pPr>
              <a:spcAft>
                <a:spcPts val="800"/>
              </a:spcAft>
            </a:pPr>
            <a:r>
              <a:rPr b="1" sz="1500">
                <a:solidFill>
                  <a:srgbClr val="EEF1F5"/>
                </a:solidFill>
              </a:rPr>
              <a:t>Planner </a:t>
            </a:r>
            <a:r>
              <a:rPr sz="1500">
                <a:solidFill>
                  <a:srgbClr val="A3ADBD"/>
                </a:solidFill>
              </a:rPr>
              <a:t>grammar first; what the grammar cannot type goes to Nemotron; look-ahead only for a shared zone.</a:t>
            </a:r>
          </a:p>
          <a:p>
            <a:pPr>
              <a:spcAft>
                <a:spcPts val="800"/>
              </a:spcAft>
            </a:pPr>
            <a:r>
              <a:rPr b="1" sz="1500">
                <a:solidFill>
                  <a:srgbClr val="EEF1F5"/>
                </a:solidFill>
              </a:rPr>
              <a:t>Executor </a:t>
            </a:r>
            <a:r>
              <a:rPr sz="1500">
                <a:solidFill>
                  <a:srgbClr val="A3ADBD"/>
                </a:solidFill>
              </a:rPr>
              <a:t>bounded tools only: parse, ledger, look-ahead, explain, alert. No shell.</a:t>
            </a:r>
          </a:p>
          <a:p>
            <a:pPr>
              <a:spcAft>
                <a:spcPts val="800"/>
              </a:spcAft>
            </a:pPr>
            <a:r>
              <a:rPr b="1" sz="1500">
                <a:solidFill>
                  <a:srgbClr val="EEF1F5"/>
                </a:solidFill>
              </a:rPr>
              <a:t>Evaluator </a:t>
            </a:r>
            <a:r>
              <a:rPr sz="1500">
                <a:solidFill>
                  <a:srgbClr val="A3ADBD"/>
                </a:solidFill>
              </a:rPr>
              <a:t>grounding rule on every model answer; one retry with the airport vocabulary; then escalate "needs readback".</a:t>
            </a:r>
          </a:p>
          <a:p>
            <a:pPr>
              <a:spcAft>
                <a:spcPts val="800"/>
              </a:spcAft>
            </a:pPr>
            <a:r>
              <a:rPr b="1" sz="1500">
                <a:solidFill>
                  <a:srgbClr val="EEF1F5"/>
                </a:solidFill>
              </a:rPr>
              <a:t>Explainer + Critic </a:t>
            </a:r>
            <a:r>
              <a:rPr sz="1500">
                <a:solidFill>
                  <a:srgbClr val="A3ADBD"/>
                </a:solidFill>
              </a:rPr>
              <a:t>Nemotron drafts two sentences; a second Nemotron call critiques them against the facts; one revision, else labelled ledger text.</a:t>
            </a:r>
          </a:p>
          <a:p>
            <a:pPr>
              <a:spcAft>
                <a:spcPts val="800"/>
              </a:spcAft>
            </a:pPr>
            <a:r>
              <a:rPr b="1" sz="1500">
                <a:solidFill>
                  <a:srgbClr val="EEF1F5"/>
                </a:solidFill>
              </a:rPr>
              <a:t>Risk </a:t>
            </a:r>
            <a:r>
              <a:rPr sz="1500">
                <a:solidFill>
                  <a:srgbClr val="A3ADBD"/>
                </a:solidFill>
              </a:rPr>
              <a:t>SIM-1 look-ahead; stale positions give "prediction unavailable", not "no conflict".</a:t>
            </a:r>
          </a:p>
          <a:p>
            <a:pPr>
              <a:spcAft>
                <a:spcPts val="800"/>
              </a:spcAft>
            </a:pPr>
            <a:r>
              <a:rPr b="1" sz="1500">
                <a:solidFill>
                  <a:srgbClr val="EEF1F5"/>
                </a:solidFill>
              </a:rPr>
              <a:t>Traces </a:t>
            </a:r>
            <a:r>
              <a:rPr sz="1500">
                <a:solidFill>
                  <a:srgbClr val="A3ADBD"/>
                </a:solidFill>
              </a:rPr>
              <a:t>one JSON line per step: role, provider, model_reported, latency, outcome (logs/, tools/show_trace.py).</a:t>
            </a:r>
          </a:p>
          <a:p>
            <a:pPr>
              <a:spcAft>
                <a:spcPts val="800"/>
              </a:spcAft>
            </a:pPr>
            <a:r>
              <a:rPr b="1" sz="1500">
                <a:solidFill>
                  <a:srgbClr val="EEF1F5"/>
                </a:solidFill>
              </a:rPr>
              <a:t>Run it </a:t>
            </a:r>
            <a:r>
              <a:rPr sz="1500">
                <a:solidFill>
                  <a:srgbClr val="A3ADBD"/>
                </a:solidFill>
              </a:rPr>
              <a:t>python3 run.py · POST /run · SAMPLE_MODE=true with no credentials · 3 input/output examples · 21 new tests passing.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487680" y="274320"/>
            <a:ext cx="11216640" cy="685800"/>
          </a:xfrm>
          <a:prstGeom prst="rect">
            <a:avLst/>
          </a:prstGeom>
          <a:noFill/>
        </p:spPr>
        <p:txBody>
          <a:bodyPr wrap="none">
            <a:spAutoFit/>
          </a:bodyPr>
          <a:lstStyle/>
          <a:p>
            <a:r>
              <a:rPr sz="1200" b="1">
                <a:solidFill>
                  <a:srgbClr val="2DD4BF"/>
                </a:solidFill>
              </a:rPr>
              <a:t>NEW · SIMULATED · FICTIONAL TRAFFIC ON THE REAL KLGA LAYOUT</a:t>
            </a:r>
          </a:p>
          <a:p>
            <a:r>
              <a:rPr sz="2800" b="1">
                <a:solidFill>
                  <a:srgbClr val="EEF1F5"/>
                </a:solidFill>
              </a:rPr>
              <a:t>LaGuardia view: AS-IS vs WITH GMAPS, side by side</a:t>
            </a:r>
          </a:p>
        </p:txBody>
      </p:sp>
      <p:pic>
        <p:nvPicPr>
          <p:cNvPr id="3" name="Picture 2" descr="lga_SIM_E1_CROSS_DURING_ROLLOUT_40.png"/>
          <p:cNvPicPr>
            <a:picLocks noChangeAspect="1"/>
          </p:cNvPicPr>
          <p:nvPr/>
        </p:nvPicPr>
        <p:blipFill>
          <a:blip r:embed="rId2"/>
          <a:stretch>
            <a:fillRect/>
          </a:stretch>
        </p:blipFill>
        <p:spPr>
          <a:xfrm>
            <a:off x="487680" y="1303020"/>
            <a:ext cx="11216640" cy="366643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487680" y="274320"/>
            <a:ext cx="11216640" cy="685800"/>
          </a:xfrm>
          <a:prstGeom prst="rect">
            <a:avLst/>
          </a:prstGeom>
          <a:noFill/>
        </p:spPr>
        <p:txBody>
          <a:bodyPr wrap="none">
            <a:spAutoFit/>
          </a:bodyPr>
          <a:lstStyle/>
          <a:p>
            <a:r>
              <a:rPr sz="1200" b="1">
                <a:solidFill>
                  <a:srgbClr val="2DD4BF"/>
                </a:solidFill>
              </a:rPr>
              <a:t>HONEST STATUS</a:t>
            </a:r>
          </a:p>
          <a:p>
            <a:r>
              <a:rPr sz="2800" b="1">
                <a:solidFill>
                  <a:srgbClr val="EEF1F5"/>
                </a:solidFill>
              </a:rPr>
              <a:t>Sponsor technology: what is real at submission time</a:t>
            </a:r>
          </a:p>
        </p:txBody>
      </p:sp>
      <p:sp>
        <p:nvSpPr>
          <p:cNvPr id="3" name="TextBox 2"/>
          <p:cNvSpPr txBox="1"/>
          <p:nvPr/>
        </p:nvSpPr>
        <p:spPr>
          <a:xfrm>
            <a:off x="487680" y="1371600"/>
            <a:ext cx="11216640" cy="5143500"/>
          </a:xfrm>
          <a:prstGeom prst="rect">
            <a:avLst/>
          </a:prstGeom>
          <a:noFill/>
        </p:spPr>
        <p:txBody>
          <a:bodyPr wrap="square">
            <a:spAutoFit/>
          </a:bodyPr>
          <a:lstStyle/>
          <a:p>
            <a:pPr>
              <a:spcAft>
                <a:spcPts val="800"/>
              </a:spcAft>
            </a:pPr>
            <a:r>
              <a:rPr b="1" sz="1600">
                <a:solidFill>
                  <a:srgbClr val="EEF1F5"/>
                </a:solidFill>
              </a:rPr>
              <a:t>NVIDIA Nemotron: </a:t>
            </a:r>
            <a:r>
              <a:rPr sz="1600">
                <a:solidFill>
                  <a:srgbClr val="A3ADBD"/>
                </a:solidFill>
              </a:rPr>
              <a:t>nemotron-3-nano-30b-a3b-nvfp4 served locally by vLLM on the DGX Spark (GB10). It runs the explainer and critic roles.</a:t>
            </a:r>
          </a:p>
          <a:p>
            <a:pPr>
              <a:spcAft>
                <a:spcPts val="800"/>
              </a:spcAft>
            </a:pPr>
            <a:r>
              <a:rPr b="1" sz="1600">
                <a:solidFill>
                  <a:srgbClr val="EEF1F5"/>
                </a:solidFill>
              </a:rPr>
              <a:t>Meterless Nightshift: </a:t>
            </a:r>
            <a:r>
              <a:rPr sz="1600">
                <a:solidFill>
                  <a:srgbClr val="A3ADBD"/>
                </a:solidFill>
              </a:rPr>
              <a:t>provider client built (OpenAI-compatible, Console URL and runtime key, meterless headers, retry, typed "unavailable"). Live run through Nightshift: not run (Nightshift was not running at submission time).</a:t>
            </a:r>
          </a:p>
          <a:p>
            <a:pPr>
              <a:spcAft>
                <a:spcPts val="800"/>
              </a:spcAft>
            </a:pPr>
            <a:r>
              <a:rPr b="1" sz="1600">
                <a:solidFill>
                  <a:srgbClr val="EEF1F5"/>
                </a:solidFill>
              </a:rPr>
              <a:t>Meterless Engine (H-MEM): </a:t>
            </a:r>
            <a:r>
              <a:rPr sz="1600">
                <a:solidFill>
                  <a:srgbClr val="A3ADBD"/>
                </a:solidFill>
              </a:rPr>
              <a:t>not integrated. A local runway memory with the same role runs in its place, with a passing test.</a:t>
            </a:r>
          </a:p>
          <a:p>
            <a:pPr>
              <a:spcAft>
                <a:spcPts val="800"/>
              </a:spcAft>
            </a:pPr>
            <a:r>
              <a:rPr b="1" sz="1600">
                <a:solidFill>
                  <a:srgbClr val="EEF1F5"/>
                </a:solidFill>
              </a:rPr>
              <a:t>Zetaris: </a:t>
            </a:r>
            <a:r>
              <a:rPr sz="1600">
                <a:solidFill>
                  <a:srgbClr val="A3ADBD"/>
                </a:solidFill>
              </a:rPr>
              <a:t>not integrated. The table design and an idempotent loader are ready; the agent uses a local store with the same interface.</a:t>
            </a:r>
          </a:p>
          <a:p>
            <a:pPr>
              <a:spcAft>
                <a:spcPts val="800"/>
              </a:spcAft>
            </a:pPr>
            <a:r>
              <a:rPr b="1" sz="1600">
                <a:solidFill>
                  <a:srgbClr val="EEF1F5"/>
                </a:solidFill>
              </a:rPr>
              <a:t>Local-execution proof: </a:t>
            </a:r>
            <a:r>
              <a:rPr sz="1600">
                <a:solidFill>
                  <a:srgbClr val="A3ADBD"/>
                </a:solidFill>
              </a:rPr>
              <a:t>tools/local_proof.py audits every connect() and charts GPU use from nvidia-smi during a run.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487680" y="274320"/>
            <a:ext cx="11216640" cy="685800"/>
          </a:xfrm>
          <a:prstGeom prst="rect">
            <a:avLst/>
          </a:prstGeom>
          <a:noFill/>
        </p:spPr>
        <p:txBody>
          <a:bodyPr wrap="none">
            <a:spAutoFit/>
          </a:bodyPr>
          <a:lstStyle/>
          <a:p>
            <a:r>
              <a:rPr sz="1200" b="1">
                <a:solidFill>
                  <a:srgbClr val="2DD4BF"/>
                </a:solidFill>
              </a:rPr>
              <a:t>DECLARATION</a:t>
            </a:r>
          </a:p>
          <a:p>
            <a:r>
              <a:rPr sz="2800" b="1">
                <a:solidFill>
                  <a:srgbClr val="EEF1F5"/>
                </a:solidFill>
              </a:rPr>
              <a:t>Pre-existing vs new</a:t>
            </a:r>
          </a:p>
        </p:txBody>
      </p:sp>
      <p:sp>
        <p:nvSpPr>
          <p:cNvPr id="3" name="TextBox 2"/>
          <p:cNvSpPr txBox="1"/>
          <p:nvPr/>
        </p:nvSpPr>
        <p:spPr>
          <a:xfrm>
            <a:off x="487680" y="1371600"/>
            <a:ext cx="11216640" cy="5143500"/>
          </a:xfrm>
          <a:prstGeom prst="rect">
            <a:avLst/>
          </a:prstGeom>
          <a:noFill/>
        </p:spPr>
        <p:txBody>
          <a:bodyPr wrap="square">
            <a:spAutoFit/>
          </a:bodyPr>
          <a:lstStyle/>
          <a:p>
            <a:pPr>
              <a:spcAft>
                <a:spcPts val="800"/>
              </a:spcAft>
            </a:pPr>
            <a:r>
              <a:rPr b="1" sz="1600">
                <a:solidFill>
                  <a:srgbClr val="EEF1F5"/>
                </a:solidFill>
              </a:rPr>
              <a:t>Pre-existing (commit e97a9a1 and earlier): </a:t>
            </a:r>
            <a:r>
              <a:rPr sz="1600">
                <a:solidFill>
                  <a:srgbClr val="A3ADBD"/>
                </a:solidFill>
              </a:rPr>
              <a:t>grammar parser, ledger and rules, SIM-1 simulator and look-ahead, airport data, fine-tuned Qwen3-4B LoRA parser (record exact 0.254 → 0.652 on 138 held-out Whisper-text lines), vLLM / DGX Spark runtime, original demo page.</a:t>
            </a:r>
          </a:p>
          <a:p>
            <a:pPr>
              <a:spcAft>
                <a:spcPts val="800"/>
              </a:spcAft>
            </a:pPr>
            <a:r>
              <a:rPr b="1" sz="1600">
                <a:solidFill>
                  <a:srgbClr val="EEF1F5"/>
                </a:solidFill>
              </a:rPr>
              <a:t>New (e97a9a1..HEAD): </a:t>
            </a:r>
            <a:r>
              <a:rPr sz="1600">
                <a:solidFill>
                  <a:srgbClr val="A3ADBD"/>
                </a:solidFill>
              </a:rPr>
              <a:t>agent loop with critic, Nightshift provider, traces, sample-mode replay, run.py API, LaGuardia animated view, local-execution proof, Nemotron-vs-4B comparison runner, deck and docs.</a:t>
            </a:r>
          </a:p>
          <a:p>
            <a:pPr>
              <a:spcAft>
                <a:spcPts val="800"/>
              </a:spcAft>
            </a:pPr>
            <a:r>
              <a:rPr b="1" sz="1600">
                <a:solidFill>
                  <a:srgbClr val="EEF1F5"/>
                </a:solidFill>
              </a:rPr>
              <a:t>Limits: </a:t>
            </a:r>
            <a:r>
              <a:rPr sz="1600">
                <a:solidFill>
                  <a:srgbClr val="A3ADBD"/>
                </a:solidFill>
              </a:rPr>
              <a:t>simulated traffic and positions, synthetic phraseology; decision support only; GMAPS never transmits, the controller decides.</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