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EF1F5"/>
                </a:solidFill>
                <a:latin typeface="Calibri"/>
              </a:rPr>
              <a:t>GMAPS · Ground Movement Awareness and Prediction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965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A3ADBD"/>
                </a:solidFill>
                <a:latin typeface="Calibri"/>
              </a:rPr>
              <a:t>Open Agent Hackathon 2026 · Wildcard [Tinkerer] · Franco Plathottathil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8346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EEF1F5"/>
                </a:solidFill>
                <a:latin typeface="Calibri"/>
              </a:rPr>
              <a:t>A controller-side cross-check for the tower: radio becomes typed clearances, a ledger tracks who holds each runway, and an agent loop warns when two recorded authorizations, or an open obligation, hold the same runway at the same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852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E2B43A"/>
                </a:solidFill>
                <a:latin typeface="Calibri"/>
              </a:rPr>
              <a:t>Decision support only. GMAPS never transmits; the controller decides. All traffic and positions shown are SIMULATED.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DD4BF"/>
                </a:solidFill>
                <a:latin typeface="Calibri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EF1F5"/>
                </a:solidFill>
                <a:latin typeface="Calibri"/>
              </a:rPr>
              <a:t>The problem and who it is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EEF1F5"/>
                </a:solidFill>
                <a:latin typeface="Calibri"/>
              </a:rPr>
              <a:t>• Runway incursions start with clearances. </a:t>
            </a:r>
            <a:r>
              <a:rPr sz="2000">
                <a:solidFill>
                  <a:srgbClr val="A3ADBD"/>
                </a:solidFill>
                <a:latin typeface="Calibri"/>
              </a:rPr>
              <a:t>A landing clearance and a crossing clearance on the same runway, both read back, both legitimate on their own.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EEF1F5"/>
                </a:solidFill>
                <a:latin typeface="Calibri"/>
              </a:rPr>
              <a:t>• The tower holds it all in memory. </a:t>
            </a:r>
            <a:r>
              <a:rPr sz="2000">
                <a:solidFill>
                  <a:srgbClr val="A3ADBD"/>
                </a:solidFill>
                <a:latin typeface="Calibri"/>
              </a:rPr>
              <a:t>Many aircraft and vehicles on one frequency; a "stop" that nobody reads back is easy to lose.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EEF1F5"/>
                </a:solidFill>
                <a:latin typeface="Calibri"/>
              </a:rPr>
              <a:t>• Target user: the tower (local) controller. </a:t>
            </a:r>
            <a:r>
              <a:rPr sz="2000">
                <a:solidFill>
                  <a:srgbClr val="A3ADBD"/>
                </a:solidFill>
                <a:latin typeface="Calibri"/>
              </a:rPr>
              <a:t>A second set of eyes that keeps the ledger of who is cleared for what, on each runway, and says why it is worried.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EEF1F5"/>
                </a:solidFill>
                <a:latin typeface="Calibri"/>
              </a:rPr>
              <a:t>• What it is not: </a:t>
            </a:r>
            <a:r>
              <a:rPr sz="2000">
                <a:solidFill>
                  <a:srgbClr val="A3ADBD"/>
                </a:solidFill>
                <a:latin typeface="Calibri"/>
              </a:rPr>
              <a:t>not an autopilot, not a transmitter, not a claim about real-world outcomes. Everything here runs on simulated traffic.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DD4BF"/>
                </a:solidFill>
                <a:latin typeface="Calibri"/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EF1F5"/>
                </a:solidFill>
                <a:latin typeface="Calibri"/>
              </a:rPr>
              <a:t>The solution: a traced agent loop over a runway ledger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EEF1F5"/>
                </a:solidFill>
                <a:latin typeface="Calibri"/>
              </a:rPr>
              <a:t>• Transmission in → </a:t>
            </a:r>
            <a:r>
              <a:rPr sz="2000">
                <a:solidFill>
                  <a:srgbClr val="A3ADBD"/>
                </a:solidFill>
                <a:latin typeface="Calibri"/>
              </a:rPr>
              <a:t>grammar parser types it; what the grammar cannot type goes to a model, and the answer must pass a grounding rule.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EEF1F5"/>
                </a:solidFill>
                <a:latin typeface="Calibri"/>
              </a:rPr>
              <a:t>• Ledger (shared state) → </a:t>
            </a:r>
            <a:r>
              <a:rPr sz="2000">
                <a:solidFill>
                  <a:srgbClr val="A3ADBD"/>
                </a:solidFill>
                <a:latin typeface="Calibri"/>
              </a:rPr>
              <a:t>authorized · acknowledged · reported · observed, per runway; a warning names both sides and the rule.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EEF1F5"/>
                </a:solidFill>
                <a:latin typeface="Calibri"/>
              </a:rPr>
              <a:t>• Look-ahead → </a:t>
            </a:r>
            <a:r>
              <a:rPr sz="2000">
                <a:solidFill>
                  <a:srgbClr val="A3ADBD"/>
                </a:solidFill>
                <a:latin typeface="Calibri"/>
              </a:rPr>
              <a:t>on simulated positions it projects whether two movers meet at the crossing; when positions are stale it says "prediction unavailable", which is not "no conflict".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EEF1F5"/>
                </a:solidFill>
                <a:latin typeface="Calibri"/>
              </a:rPr>
              <a:t>• Explainer → </a:t>
            </a:r>
            <a:r>
              <a:rPr sz="2000">
                <a:solidFill>
                  <a:srgbClr val="A3ADBD"/>
                </a:solidFill>
                <a:latin typeface="Calibri"/>
              </a:rPr>
              <a:t>Nemotron writes two plain sentences for the controller; the evaluator checks them before they are shown.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EEF1F5"/>
                </a:solidFill>
                <a:latin typeface="Calibri"/>
              </a:rPr>
              <a:t>• Every step is one trace line </a:t>
            </a:r>
            <a:r>
              <a:rPr sz="2000">
                <a:solidFill>
                  <a:srgbClr val="A3ADBD"/>
                </a:solidFill>
                <a:latin typeface="Calibri"/>
              </a:rPr>
              <a:t>naming the role and the model that handled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DD4BF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EF1F5"/>
                </a:solidFill>
                <a:latin typeface="Calibri"/>
              </a:rPr>
              <a:t>Agent workflow: roles that check each other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1783080" cy="2377440"/>
          </a:xfrm>
          <a:prstGeom prst="roundRect">
            <a:avLst/>
          </a:prstGeom>
          <a:solidFill>
            <a:srgbClr val="1D2129"/>
          </a:solidFill>
          <a:ln w="254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700" b="1">
                <a:solidFill>
                  <a:srgbClr val="2DD4BF"/>
                </a:solidFill>
              </a:rPr>
              <a:t>Planner</a:t>
            </a:r>
          </a:p>
          <a:p>
            <a:r>
              <a:rPr sz="1300">
                <a:solidFill>
                  <a:srgbClr val="EEF1F5"/>
                </a:solidFill>
              </a:rPr>
              <a:t>grammar first; residue → model; look-ahead only when a shared zone is involved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23160" y="1737360"/>
            <a:ext cx="1783080" cy="2377440"/>
          </a:xfrm>
          <a:prstGeom prst="roundRect">
            <a:avLst/>
          </a:prstGeom>
          <a:solidFill>
            <a:srgbClr val="1D2129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700" b="1">
                <a:solidFill>
                  <a:srgbClr val="60A5FA"/>
                </a:solidFill>
              </a:rPr>
              <a:t>Executor</a:t>
            </a:r>
          </a:p>
          <a:p>
            <a:r>
              <a:rPr sz="1300">
                <a:solidFill>
                  <a:srgbClr val="EEF1F5"/>
                </a:solidFill>
              </a:rPr>
              <a:t>bounded tools only: parse, ingest, look-ahead, explain, post alert. No shell.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1783080" cy="2377440"/>
          </a:xfrm>
          <a:prstGeom prst="roundRect">
            <a:avLst/>
          </a:prstGeom>
          <a:solidFill>
            <a:srgbClr val="1D2129"/>
          </a:solidFill>
          <a:ln w="25400">
            <a:solidFill>
              <a:srgbClr val="E2B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700" b="1">
                <a:solidFill>
                  <a:srgbClr val="E2B43A"/>
                </a:solidFill>
              </a:rPr>
              <a:t>Evaluator</a:t>
            </a:r>
          </a:p>
          <a:p>
            <a:r>
              <a:rPr sz="1300">
                <a:solidFill>
                  <a:srgbClr val="EEF1F5"/>
                </a:solidFill>
              </a:rPr>
              <a:t>grounding rule on every model answer; one retry with the airport vocabulary; then escalate "needs readback"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737360"/>
            <a:ext cx="1783080" cy="2377440"/>
          </a:xfrm>
          <a:prstGeom prst="roundRect">
            <a:avLst/>
          </a:prstGeom>
          <a:solidFill>
            <a:srgbClr val="1D2129"/>
          </a:solidFill>
          <a:ln w="254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700" b="1">
                <a:solidFill>
                  <a:srgbClr val="FB923C"/>
                </a:solidFill>
              </a:rPr>
              <a:t>Risk</a:t>
            </a:r>
          </a:p>
          <a:p>
            <a:r>
              <a:rPr sz="1300">
                <a:solidFill>
                  <a:srgbClr val="EEF1F5"/>
                </a:solidFill>
              </a:rPr>
              <a:t>SIM-1 look-ahead each second; stale feed → "prediction unavailable"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737360"/>
            <a:ext cx="1783080" cy="2377440"/>
          </a:xfrm>
          <a:prstGeom prst="roundRect">
            <a:avLst/>
          </a:prstGeom>
          <a:solidFill>
            <a:srgbClr val="1D2129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700" b="1">
                <a:solidFill>
                  <a:srgbClr val="A78BFA"/>
                </a:solidFill>
              </a:rPr>
              <a:t>Explainer + Critic</a:t>
            </a:r>
          </a:p>
          <a:p>
            <a:r>
              <a:rPr sz="1300">
                <a:solidFill>
                  <a:srgbClr val="EEF1F5"/>
                </a:solidFill>
              </a:rPr>
              <a:t>Nemotron drafts two sentences; a second Nemotron call critiques them against the facts → one revision, else labelled ledger 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87000" y="1737360"/>
            <a:ext cx="1783080" cy="2377440"/>
          </a:xfrm>
          <a:prstGeom prst="roundRect">
            <a:avLst/>
          </a:prstGeom>
          <a:solidFill>
            <a:srgbClr val="1D2129"/>
          </a:solidFill>
          <a:ln w="25400">
            <a:solidFill>
              <a:srgbClr val="FF4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700" b="1">
                <a:solidFill>
                  <a:srgbClr val="FF4D4F"/>
                </a:solidFill>
              </a:rPr>
              <a:t>Alert</a:t>
            </a:r>
          </a:p>
          <a:p>
            <a:r>
              <a:rPr sz="1300">
                <a:solidFill>
                  <a:srgbClr val="EEF1F5"/>
                </a:solidFill>
              </a:rPr>
              <a:t>display only, never a radio frequency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891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A3ADBD"/>
                </a:solidFill>
                <a:latin typeface="Calibri"/>
              </a:rPr>
              <a:t>Shared state: the runway ledger + runway memory (open obligations per runway) · trace: runs/traces/&lt;run_id&gt;.jsonl (role, provider, model_reported, latency, tokens, outcome, grounding)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035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EEF1F5"/>
                </a:solidFill>
                <a:latin typeface="Calibri"/>
              </a:rPr>
              <a:t>Real code paths, with tests: critique → revision loop, retry, escalation, fallback when the provider is down, replay of recorded traces in sample mode (no key, no network).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DD4BF"/>
                </a:solidFill>
                <a:latin typeface="Calibri"/>
              </a:rPr>
              <a:t>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EF1F5"/>
                </a:solidFill>
                <a:latin typeface="Calibri"/>
              </a:rPr>
              <a:t>Two small models, one loop</a:t>
            </a:r>
          </a:p>
        </p:txBody>
      </p:sp>
      <p:pic>
        <p:nvPicPr>
          <p:cNvPr id="4" name="Picture 3" descr="base_vs_adap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5760720" cy="36868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92240" y="1554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60A5FA"/>
                </a:solidFill>
                <a:latin typeface="Calibri"/>
              </a:rPr>
              <a:t>Fine-tuned 4B parser (pre-existing, published)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201168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EEF1F5"/>
                </a:solidFill>
                <a:latin typeface="Calibri"/>
              </a:rPr>
              <a:t>Qwen3-4B-Instruct-2507 + LoRA "gmaps-parser", local vLLM on the DGX Spark.</a:t>
            </a:r>
          </a:p>
          <a:p>
            <a:r>
              <a:rPr sz="1400" b="0">
                <a:solidFill>
                  <a:srgbClr val="EEF1F5"/>
                </a:solidFill>
                <a:latin typeface="Calibri"/>
              </a:rPr>
              <a:t>Record exact 0.254 → 0.652 on 138 held-out Whisper-text transmissions; paired +39.9 points, 95 % CI [+31.9, +48.6], McNemar p = 5.6e-17.</a:t>
            </a:r>
          </a:p>
          <a:p>
            <a:r>
              <a:rPr sz="1400" b="0">
                <a:solidFill>
                  <a:srgbClr val="EEF1F5"/>
                </a:solidFill>
                <a:latin typeface="Calibri"/>
              </a:rPr>
              <a:t>Blind scripted set (414): 0.365 → 0.906. Grammar alone: 0.377 / 0.773.</a:t>
            </a:r>
          </a:p>
          <a:p>
            <a:r>
              <a:rPr sz="1400" b="0">
                <a:solidFill>
                  <a:srgbClr val="EEF1F5"/>
                </a:solidFill>
                <a:latin typeface="Calibri"/>
              </a:rPr>
              <a:t>huggingface.co/darkstar008/gmaps-parser-qwen3-4b-lora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4343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2DD4BF"/>
                </a:solidFill>
                <a:latin typeface="Calibri"/>
              </a:rPr>
              <a:t>Nemotron 30B via Nightshift (new)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480060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EEF1F5"/>
                </a:solidFill>
                <a:latin typeface="Calibri"/>
              </a:rPr>
              <a:t>Residue parse and the two-sentence explanation of every warning, through Nightshift (OpenAI-compatible). model_reported is logged on every call. Nightshift live run: not run.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A3ADBD"/>
                </a:solidFill>
                <a:latin typeface="Calibri"/>
              </a:rPr>
              <a:t>SIMULATED data. Charts and numbers: docs/model_card/, docs/PAIRED_STATS.md.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DD4BF"/>
                </a:solidFill>
                <a:latin typeface="Calibri"/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EF1F5"/>
                </a:solidFill>
                <a:latin typeface="Calibri"/>
              </a:rPr>
              <a:t>LaGuardia view: crossing cleared while a plane is landing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320040"/>
            <a:ext cx="2011680" cy="347472"/>
          </a:xfrm>
          <a:prstGeom prst="roundRect">
            <a:avLst/>
          </a:prstGeom>
          <a:solidFill>
            <a:srgbClr val="2A1D0B"/>
          </a:solidFill>
          <a:ln>
            <a:solidFill>
              <a:srgbClr val="E2B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300" b="1">
                <a:solidFill>
                  <a:srgbClr val="E2B43A"/>
                </a:solidFill>
              </a:rPr>
              <a:t>SIMULATED</a:t>
            </a:r>
          </a:p>
        </p:txBody>
      </p:sp>
      <p:pic>
        <p:nvPicPr>
          <p:cNvPr id="5" name="Picture 4" descr="lga_SIM_E1_CROSS_DURING_ROLLOUT_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11247120" cy="36764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949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A3ADBD"/>
                </a:solidFill>
                <a:latin typeface="Calibri"/>
              </a:rPr>
              <a:t>Left: today (radio and eyes). Right: WITH GMAPS. R1 conflict on runway 04/22 at +28 s; look-ahead projects the overlap at the G crossing. Real LGA layout (OpenStreetMap, ODbL), fictional traffic.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DD4BF"/>
                </a:solidFill>
                <a:latin typeface="Calibri"/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EF1F5"/>
                </a:solidFill>
                <a:latin typeface="Calibri"/>
              </a:rPr>
              <a:t>Told to hold short, not slowing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320040"/>
            <a:ext cx="2011680" cy="347472"/>
          </a:xfrm>
          <a:prstGeom prst="roundRect">
            <a:avLst/>
          </a:prstGeom>
          <a:solidFill>
            <a:srgbClr val="2A1D0B"/>
          </a:solidFill>
          <a:ln>
            <a:solidFill>
              <a:srgbClr val="E2B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300" b="1">
                <a:solidFill>
                  <a:srgbClr val="E2B43A"/>
                </a:solidFill>
              </a:rPr>
              <a:t>SIMULATED</a:t>
            </a:r>
          </a:p>
        </p:txBody>
      </p:sp>
      <p:pic>
        <p:nvPicPr>
          <p:cNvPr id="5" name="Picture 4" descr="lga_SIM_E5_HOLD_NOT_SLOWING_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11247120" cy="36764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949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A3ADBD"/>
                </a:solidFill>
                <a:latin typeface="Calibri"/>
              </a:rPr>
              <a:t>The hold short was read back, so the ledger is quiet; the look-ahead raises it from motion: the vehicle cannot stop at the real G hold bar.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DD4BF"/>
                </a:solidFill>
                <a:latin typeface="Calibri"/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EF1F5"/>
                </a:solidFill>
                <a:latin typeface="Calibri"/>
              </a:rPr>
              <a:t>Position feed drops 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320040"/>
            <a:ext cx="2011680" cy="347472"/>
          </a:xfrm>
          <a:prstGeom prst="roundRect">
            <a:avLst/>
          </a:prstGeom>
          <a:solidFill>
            <a:srgbClr val="2A1D0B"/>
          </a:solidFill>
          <a:ln>
            <a:solidFill>
              <a:srgbClr val="E2B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300" b="1">
                <a:solidFill>
                  <a:srgbClr val="E2B43A"/>
                </a:solidFill>
              </a:rPr>
              <a:t>SIMULATED</a:t>
            </a:r>
          </a:p>
        </p:txBody>
      </p:sp>
      <p:pic>
        <p:nvPicPr>
          <p:cNvPr id="5" name="Picture 4" descr="lga_SIM_E4_FEED_LOSS_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11247120" cy="36764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949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A3ADBD"/>
                </a:solidFill>
                <a:latin typeface="Calibri"/>
              </a:rPr>
              <a:t>The vehicle track goes stale: GMAPS withdraws the timed prediction and says "prediction unavailable"; the ledger warning stays open.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DD4BF"/>
                </a:solidFill>
                <a:latin typeface="Calibri"/>
              </a:rPr>
              <a:t>SPONSOR 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EF1F5"/>
                </a:solidFill>
                <a:latin typeface="Calibri"/>
              </a:rPr>
              <a:t>Sponsor technology: what is real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EEF1F5"/>
                </a:solidFill>
                <a:latin typeface="Calibri"/>
              </a:rPr>
              <a:t>• Meterless Nightshift: </a:t>
            </a:r>
            <a:r>
              <a:rPr sz="1700">
                <a:solidFill>
                  <a:srgbClr val="A3ADBD"/>
                </a:solidFill>
                <a:latin typeface="Calibri"/>
              </a:rPr>
              <a:t>NightshiftLLM (OpenAI-compatible, key from the environment, temperature 0, one retry on 5xx, typed "provider_unavailable"). It is the primary provider for every model call in the loop. Nightshift live run: not run.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EEF1F5"/>
                </a:solidFill>
                <a:latin typeface="Calibri"/>
              </a:rPr>
              <a:t>• NVIDIA: </a:t>
            </a:r>
            <a:r>
              <a:rPr sz="1700">
                <a:solidFill>
                  <a:srgbClr val="A3ADBD"/>
                </a:solidFill>
                <a:latin typeface="Calibri"/>
              </a:rPr>
              <a:t>Nemotron 30B through Nightshift for the residue parse and the explainer; the fine-tuned 4B and the DGX Spark runtime are pre-existing.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EEF1F5"/>
                </a:solidFill>
                <a:latin typeface="Calibri"/>
              </a:rPr>
              <a:t>• Meterless Engine (H-MEM as runway memory): </a:t>
            </a:r>
            <a:r>
              <a:rPr sz="1700">
                <a:solidFill>
                  <a:srgbClr val="A3ADBD"/>
                </a:solidFill>
                <a:latin typeface="Calibri"/>
              </a:rPr>
              <a:t>not integrated. A local runway memory with the same interface (put / open_items / close) runs and is tested; trace lines say engine: local.runway_memory.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EEF1F5"/>
                </a:solidFill>
                <a:latin typeface="Calibri"/>
              </a:rPr>
              <a:t>• Zetaris: </a:t>
            </a:r>
            <a:r>
              <a:rPr sz="1700">
                <a:solidFill>
                  <a:srgbClr val="A3ADBD"/>
                </a:solidFill>
                <a:latin typeface="Calibri"/>
              </a:rPr>
              <a:t>not integrated. Table design (identifiers, transmissions, ledger) and an idempotent loader are ready; the agent uses a local store.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EEF1F5"/>
                </a:solidFill>
                <a:latin typeface="Calibri"/>
              </a:rPr>
              <a:t>• Unique: </a:t>
            </a:r>
            <a:r>
              <a:rPr sz="1700">
                <a:solidFill>
                  <a:srgbClr val="A3ADBD"/>
                </a:solidFill>
                <a:latin typeface="Calibri"/>
              </a:rPr>
              <a:t>the cloud model never has the last word: a deterministic grounding rule accepts or rejects every answer, and the trace that proves which model answered is also the offline fixture judges replay.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DD4BF"/>
                </a:solidFill>
                <a:latin typeface="Calibri"/>
              </a:rPr>
              <a:t>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EF1F5"/>
                </a:solidFill>
                <a:latin typeface="Calibri"/>
              </a:rPr>
              <a:t>Technical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EEF1F5"/>
                </a:solidFill>
                <a:latin typeface="Calibri"/>
              </a:rPr>
              <a:t>• Agent loop: </a:t>
            </a:r>
            <a:r>
              <a:rPr sz="2000">
                <a:solidFill>
                  <a:srgbClr val="A3ADBD"/>
                </a:solidFill>
                <a:latin typeface="Calibri"/>
              </a:rPr>
              <a:t>Python, stdlib only (agent/open_agent_loop.py); traces as JSONL; tools/show_trace.py.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EEF1F5"/>
                </a:solidFill>
                <a:latin typeface="Calibri"/>
              </a:rPr>
              <a:t>• Models: </a:t>
            </a:r>
            <a:r>
              <a:rPr sz="2000">
                <a:solidFill>
                  <a:srgbClr val="A3ADBD"/>
                </a:solidFill>
                <a:latin typeface="Calibri"/>
              </a:rPr>
              <a:t>Nemotron 30B via Meterless Nightshift; Qwen3-4B + LoRA on vLLM v0.27.1 (DGX Spark, GB10); Whisper large-v3-turbo.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EEF1F5"/>
                </a:solidFill>
                <a:latin typeface="Calibri"/>
              </a:rPr>
              <a:t>• Domain core (pre-existing): </a:t>
            </a:r>
            <a:r>
              <a:rPr sz="2000">
                <a:solidFill>
                  <a:srgbClr val="A3ADBD"/>
                </a:solidFill>
                <a:latin typeface="Calibri"/>
              </a:rPr>
              <a:t>grammar parser, runway ledger with cited rules, SIM-1 look-ahead, airport identifier graphs.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EEF1F5"/>
                </a:solidFill>
                <a:latin typeface="Calibri"/>
              </a:rPr>
              <a:t>• UI: </a:t>
            </a:r>
            <a:r>
              <a:rPr sz="2000">
                <a:solidFill>
                  <a:srgbClr val="A3ADBD"/>
                </a:solidFill>
                <a:latin typeface="Calibri"/>
              </a:rPr>
              <a:t>ui_scaffold/lga_scene.html: canvas, OSM geometry in the FAA diagram frame, AS-IS vs WITH GMAPS on one clock.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EEF1F5"/>
                </a:solidFill>
                <a:latin typeface="Calibri"/>
              </a:rPr>
              <a:t>• Run it: </a:t>
            </a:r>
            <a:r>
              <a:rPr sz="2000">
                <a:solidFill>
                  <a:srgbClr val="A3ADBD"/>
                </a:solidFill>
                <a:latin typeface="Calibri"/>
              </a:rPr>
              <a:t>python3 demo/run_open_agent.py --provider sample (no key) · demo/record_open_agent.sh (live) · python3 tests/run_all.py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DD4BF"/>
                </a:solidFill>
                <a:latin typeface="Calibri"/>
              </a:rPr>
              <a:t>DECLARATION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EF1F5"/>
                </a:solidFill>
                <a:latin typeface="Calibri"/>
              </a:rPr>
              <a:t>Pre-existing vs new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486400" cy="4206240"/>
          </a:xfrm>
          <a:prstGeom prst="roundRect">
            <a:avLst/>
          </a:prstGeom>
          <a:solidFill>
            <a:srgbClr val="1D2129"/>
          </a:solidFill>
          <a:ln w="25400">
            <a:solidFill>
              <a:srgbClr val="E2B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700" b="1">
                <a:solidFill>
                  <a:srgbClr val="E2B43A"/>
                </a:solidFill>
              </a:rPr>
              <a:t>Pre-existing (commit e97a9a1 and earlier, 18 Oct)</a:t>
            </a:r>
          </a:p>
          <a:p>
            <a:r>
              <a:rPr sz="1300">
                <a:solidFill>
                  <a:srgbClr val="EEF1F5"/>
                </a:solidFill>
              </a:rPr>
              <a:t>Grammar parser, ledger and rules, SIM-1 simulator and look-ahead, airport identifier data and diagrams, LocalLLM adapter, the fine-tuned 4B parser and its evaluation, the DGX Spark vLLM runtime, the original demo page.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486400" cy="4206240"/>
          </a:xfrm>
          <a:prstGeom prst="roundRect">
            <a:avLst/>
          </a:prstGeom>
          <a:solidFill>
            <a:srgbClr val="1D2129"/>
          </a:solidFill>
          <a:ln w="254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700" b="1">
                <a:solidFill>
                  <a:srgbClr val="2DD4BF"/>
                </a:solidFill>
              </a:rPr>
              <a:t>New in the build window (e97a9a1..HEAD)</a:t>
            </a:r>
          </a:p>
          <a:p>
            <a:r>
              <a:rPr sz="1300">
                <a:solidFill>
                  <a:srgbClr val="EEF1F5"/>
                </a:solidFill>
              </a:rPr>
              <a:t>NightshiftLLM provider and sample replay; TraceLogger; grounding rule for model answers; the six-role agent loop with retry, escalation and fallback; runway memory; data-store layer and Zetaris loader design; Nemotron-vs-4B comparison runner; the animated LaGuardia view; tests.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DD4BF"/>
                </a:solidFill>
                <a:latin typeface="Calibri"/>
              </a:rPr>
              <a:t>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EF1F5"/>
                </a:solidFill>
                <a:latin typeface="Calibri"/>
              </a:rPr>
              <a:t>Limits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EEF1F5"/>
                </a:solidFill>
                <a:latin typeface="Calibri"/>
              </a:rPr>
              <a:t>• Limits: </a:t>
            </a:r>
            <a:r>
              <a:rPr sz="2000">
                <a:solidFill>
                  <a:srgbClr val="A3ADBD"/>
                </a:solidFill>
                <a:latin typeface="Calibri"/>
              </a:rPr>
              <a:t>simulated traffic and positions, synthetic phraseology; the look-ahead is computed on the fictional SIM-1 model; decision support only.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EEF1F5"/>
                </a:solidFill>
                <a:latin typeface="Calibri"/>
              </a:rPr>
              <a:t>• Next: </a:t>
            </a:r>
            <a:r>
              <a:rPr sz="2000">
                <a:solidFill>
                  <a:srgbClr val="A3ADBD"/>
                </a:solidFill>
                <a:latin typeface="Calibri"/>
              </a:rPr>
              <a:t>Zetaris as the data layer for identifiers, transmissions and ledger records; Meterless H-MEM for runway memory across sessions.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EEF1F5"/>
                </a:solidFill>
                <a:latin typeface="Calibri"/>
              </a:rPr>
              <a:t>• Next: </a:t>
            </a:r>
            <a:r>
              <a:rPr sz="2000">
                <a:solidFill>
                  <a:srgbClr val="A3ADBD"/>
                </a:solidFill>
                <a:latin typeface="Calibri"/>
              </a:rPr>
              <a:t>Nemotron-vs-4B comparison on the 138 held-out transmissions, same prompt and verifier.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EEF1F5"/>
                </a:solidFill>
                <a:latin typeface="Calibri"/>
              </a:rPr>
              <a:t>• Next: </a:t>
            </a:r>
            <a:r>
              <a:rPr sz="2000">
                <a:solidFill>
                  <a:srgbClr val="A3ADBD"/>
                </a:solidFill>
                <a:latin typeface="Calibri"/>
              </a:rPr>
              <a:t>reviewed airport geometry, a real surveillance feed, and a qualified controller reviewing the scenarios.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